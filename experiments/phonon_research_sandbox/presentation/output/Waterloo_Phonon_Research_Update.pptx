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c549f9f87474b2f" /><Relationship Type="http://schemas.openxmlformats.org/officeDocument/2006/relationships/extended-properties" Target="/docProps/app.xml" Id="R2d1291eb53724bfe" /><Relationship Type="http://schemas.openxmlformats.org/officeDocument/2006/relationships/officeDocument" Target="/ppt/presentation.xml" Id="Rff956c1009764c37" /></Relationships>
</file>

<file path=ppt/presentation.xml><?xml version="1.0" encoding="utf-8"?>
<p:presentation xmlns:p="http://schemas.openxmlformats.org/presentationml/2006/main">
  <p:sldMasterIdLst>
    <p:sldMasterId xmlns:r="http://schemas.openxmlformats.org/officeDocument/2006/relationships" id="2147483648" r:id="Red9728914118488e"/>
  </p:sldMasterIdLst>
  <p:notesMasterIdLst>
    <p:notesMasterId xmlns:r="http://schemas.openxmlformats.org/officeDocument/2006/relationships" r:id="R6e907e36147a4a22"/>
  </p:notesMasterIdLst>
  <p:sldIdLst>
    <p:sldId xmlns:r="http://schemas.openxmlformats.org/officeDocument/2006/relationships" id="256" r:id="R0734ef09c5284cc1"/>
    <p:sldId xmlns:r="http://schemas.openxmlformats.org/officeDocument/2006/relationships" id="257" r:id="R903b1a3edf544cb8"/>
    <p:sldId xmlns:r="http://schemas.openxmlformats.org/officeDocument/2006/relationships" id="258" r:id="Raa93da7b95ef4e89"/>
    <p:sldId xmlns:r="http://schemas.openxmlformats.org/officeDocument/2006/relationships" id="259" r:id="R1cb1bb22467e42f3"/>
    <p:sldId xmlns:r="http://schemas.openxmlformats.org/officeDocument/2006/relationships" id="260" r:id="Raefa2bf84fec4b97"/>
    <p:sldId xmlns:r="http://schemas.openxmlformats.org/officeDocument/2006/relationships" id="261" r:id="R0f0d90d3bdae41ec"/>
    <p:sldId xmlns:r="http://schemas.openxmlformats.org/officeDocument/2006/relationships" id="262" r:id="R11d0c6ba513e40fc"/>
    <p:sldId xmlns:r="http://schemas.openxmlformats.org/officeDocument/2006/relationships" id="263" r:id="R4741887c3b4946ef"/>
    <p:sldId xmlns:r="http://schemas.openxmlformats.org/officeDocument/2006/relationships" id="264" r:id="R431d20a6c46f4221"/>
    <p:sldId xmlns:r="http://schemas.openxmlformats.org/officeDocument/2006/relationships" id="265" r:id="R428b68e88f5c497b"/>
    <p:sldId xmlns:r="http://schemas.openxmlformats.org/officeDocument/2006/relationships" id="266" r:id="Rd535109336d544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3b0a757aaa4faf" /><Relationship Type="http://schemas.openxmlformats.org/officeDocument/2006/relationships/slideMaster" Target="/ppt/slideMasters/slideMaster1.xml" Id="Red9728914118488e" /><Relationship Type="http://schemas.openxmlformats.org/officeDocument/2006/relationships/notesMaster" Target="/ppt/notesMasters/notesMaster1.xml" Id="R6e907e36147a4a22" /><Relationship Type="http://schemas.openxmlformats.org/officeDocument/2006/relationships/presProps" Target="/ppt/presProps.xml" Id="R5342db9eadc24895" /><Relationship Type="http://schemas.openxmlformats.org/officeDocument/2006/relationships/tableStyles" Target="/ppt/tableStyles.xml" Id="Rb32de4073f604119" /><Relationship Type="http://schemas.openxmlformats.org/officeDocument/2006/relationships/slide" Target="/ppt/slides/slide1.xml" Id="R0734ef09c5284cc1" /><Relationship Type="http://schemas.openxmlformats.org/officeDocument/2006/relationships/slide" Target="/ppt/slides/slide2.xml" Id="R903b1a3edf544cb8" /><Relationship Type="http://schemas.openxmlformats.org/officeDocument/2006/relationships/slide" Target="/ppt/slides/slide3.xml" Id="Raa93da7b95ef4e89" /><Relationship Type="http://schemas.openxmlformats.org/officeDocument/2006/relationships/slide" Target="/ppt/slides/slide4.xml" Id="R1cb1bb22467e42f3" /><Relationship Type="http://schemas.openxmlformats.org/officeDocument/2006/relationships/slide" Target="/ppt/slides/slide5.xml" Id="Raefa2bf84fec4b97" /><Relationship Type="http://schemas.openxmlformats.org/officeDocument/2006/relationships/slide" Target="/ppt/slides/slide6.xml" Id="R0f0d90d3bdae41ec" /><Relationship Type="http://schemas.openxmlformats.org/officeDocument/2006/relationships/slide" Target="/ppt/slides/slide7.xml" Id="R11d0c6ba513e40fc" /><Relationship Type="http://schemas.openxmlformats.org/officeDocument/2006/relationships/slide" Target="/ppt/slides/slide8.xml" Id="R4741887c3b4946ef" /><Relationship Type="http://schemas.openxmlformats.org/officeDocument/2006/relationships/slide" Target="/ppt/slides/slide9.xml" Id="R431d20a6c46f4221" /><Relationship Type="http://schemas.openxmlformats.org/officeDocument/2006/relationships/slide" Target="/ppt/slides/slide10.xml" Id="R428b68e88f5c497b" /><Relationship Type="http://schemas.openxmlformats.org/officeDocument/2006/relationships/slide" Target="/ppt/slides/slide11.xml" Id="Rd535109336d544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80532323af4a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39fc6d70dd4036" /><Relationship Type="http://schemas.openxmlformats.org/officeDocument/2006/relationships/notesMaster" Target="/ppt/notesMasters/notesMaster1.xml" Id="R41a749441e664b2d" /></Relationships>
</file>

<file path=ppt/notesSlides/_rels/notesSlide2.xml.rels>&#65279;<?xml version="1.0" encoding="utf-8"?><Relationships xmlns="http://schemas.openxmlformats.org/package/2006/relationships"><Relationship Type="http://schemas.openxmlformats.org/officeDocument/2006/relationships/slide" Target="/ppt/slides/slide2.xml" Id="R8022594cd7fc4a43" /><Relationship Type="http://schemas.openxmlformats.org/officeDocument/2006/relationships/notesMaster" Target="/ppt/notesMasters/notesMaster1.xml" Id="R87abcf3739054c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d3a6050b074802" /><Relationship Type="http://schemas.openxmlformats.org/officeDocument/2006/relationships/notesMaster" Target="/ppt/notesMasters/notesMaster1.xml" Id="R0b135ed904cc49d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5a12cc8ec04cd3" /><Relationship Type="http://schemas.openxmlformats.org/officeDocument/2006/relationships/notesMaster" Target="/ppt/notesMasters/notesMaster1.xml" Id="R013facdc91b34e1c"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cdc97d4ba5443f" /><Relationship Type="http://schemas.openxmlformats.org/officeDocument/2006/relationships/notesMaster" Target="/ppt/notesMasters/notesMaster1.xml" Id="Ra69c39d0926a44f6"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5e32aa024d411d" /><Relationship Type="http://schemas.openxmlformats.org/officeDocument/2006/relationships/notesMaster" Target="/ppt/notesMasters/notesMaster1.xml" Id="R7ba7584b736f48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de9006426f4f3e" /><Relationship Type="http://schemas.openxmlformats.org/officeDocument/2006/relationships/notesMaster" Target="/ppt/notesMasters/notesMaster1.xml" Id="Rc4eab065aa944a35"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aeeb581ed34a6f" /><Relationship Type="http://schemas.openxmlformats.org/officeDocument/2006/relationships/notesMaster" Target="/ppt/notesMasters/notesMaster1.xml" Id="R170736ef7a8848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f0a918d4e53345de" /><Relationship Type="http://schemas.openxmlformats.org/officeDocument/2006/relationships/notesMaster" Target="/ppt/notesMasters/notesMaster1.xml" Id="R26f6eb65597a412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039059ae2a44d0e" /><Relationship Type="http://schemas.openxmlformats.org/officeDocument/2006/relationships/notesMaster" Target="/ppt/notesMasters/notesMaster1.xml" Id="R61edcd1bb8b9400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3a59e556e66404e" /><Relationship Type="http://schemas.openxmlformats.org/officeDocument/2006/relationships/notesMaster" Target="/ppt/notesMasters/notesMaster1.xml" Id="R0dd379af71484c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have completed the three electronic first passes and tested the phonon workflow. The present milestone is a traceable research record and a focused plan for the remaining scientific questions. None of the three materials currently has an accepted lattice thermal conductivity under our current criteria. This update uses saved repository evidence, not a current cluster check.</a:t>
            </a:r>
          </a:p>
          <a:p xmlns:a="http://schemas.openxmlformats.org/drawingml/2006/main">
            <a:r>
              <a:t/>
            </a:r>
          </a:p>
          <a:p xmlns:a="http://schemas.openxmlformats.org/drawingml/2006/main">
            <a:r>
              <a:t>Sources:</a:t>
            </a:r>
          </a:p>
          <a:p xmlns:a="http://schemas.openxmlformats.org/drawingml/2006/main">
            <a:r>
              <a:t>experiments/phonon_research_sandbox/CURRENT_STATE.md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material used its own convergence workflow before the electronic transport first pass. This existing SrCu2SnS4 plot compares the Quantum ESPRESSO density of states with the BoltzTraP2 interpolation. It supports a workflow comparison but does not by itself establish convergence of every transport property. The calculations use PBE without explicit spin–orbit coupling.</a:t>
            </a:r>
          </a:p>
          <a:p xmlns:a="http://schemas.openxmlformats.org/drawingml/2006/main">
            <a:r>
              <a:t/>
            </a:r>
          </a:p>
          <a:p xmlns:a="http://schemas.openxmlformats.org/drawingml/2006/main">
            <a:r>
              <a:t>Sources:</a:t>
            </a:r>
          </a:p>
          <a:p xmlns:a="http://schemas.openxmlformats.org/drawingml/2006/main">
            <a:r>
              <a:t>thermo_candidates/SrCu2SnS4/results/dos_qe_vs_boltztrap2.png</a:t>
            </a:r>
          </a:p>
          <a:p xmlns:a="http://schemas.openxmlformats.org/drawingml/2006/main">
            <a:r>
              <a:t>thermo_candidates/SrCu2SnS4/results/workflow_summary.md</a:t>
            </a:r>
          </a:p>
          <a:p xmlns:a="http://schemas.openxmlformats.org/drawingml/2006/main">
            <a:r>
              <a:t>thermo_candidates/SrZrS3/results/workflow_summary.md</a:t>
            </a:r>
          </a:p>
          <a:p xmlns:a="http://schemas.openxmlformats.org/drawingml/2006/main">
            <a:r>
              <a:t>thermo_candidates/Rb2Cu2SnS4/results/workflow_summary.md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bars are the best power-factor-over-relaxation-time values selected independently for each carrier sign on the sampled 300 K grid. Rb2Cu2SnS4 has the largest p-type value among these first passes. This does not establish the best final thermoelectric material, because relaxation time and accepted lattice thermal conductivity remain missing. SrZrS3 carrier preference depends on the metric and temperature, so I do not assign one universal doping preference.</a:t>
            </a:r>
          </a:p>
          <a:p xmlns:a="http://schemas.openxmlformats.org/drawingml/2006/main">
            <a:r>
              <a:t/>
            </a:r>
          </a:p>
          <a:p xmlns:a="http://schemas.openxmlformats.org/drawingml/2006/main">
            <a:r>
              <a:t>Sources:</a:t>
            </a:r>
          </a:p>
          <a:p xmlns:a="http://schemas.openxmlformats.org/drawingml/2006/main">
            <a:r>
              <a:t>thermo_candidates/SrCu2SnS4/results/transport_best_power_factor.csv</a:t>
            </a:r>
          </a:p>
          <a:p xmlns:a="http://schemas.openxmlformats.org/drawingml/2006/main">
            <a:r>
              <a:t>thermo_candidates/SrZrS3/results/transport_best_power_factor.csv</a:t>
            </a:r>
          </a:p>
          <a:p xmlns:a="http://schemas.openxmlformats.org/drawingml/2006/main">
            <a:r>
              <a:t>thermo_candidates/Rb2Cu2SnS4/results/transport_best_power_factor.csv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table separates artifact creation from scientific acceptance. SrCu2SnS4 preserves a historical campaign with known problems, while its corrected workflow remains preparation only. SrZrS3 produced force constants but failed a sampled-frequency gate. Rb2Cu2SnS4 has a saved artifact audit with limited integrity checks, but all tested mesh transitions fail the convergence rule. For the latter two, this update reads the saved audit records rather than revalidating the remote HDF5 files.</a:t>
            </a:r>
          </a:p>
          <a:p xmlns:a="http://schemas.openxmlformats.org/drawingml/2006/main">
            <a:r>
              <a:t/>
            </a:r>
          </a:p>
          <a:p xmlns:a="http://schemas.openxmlformats.org/drawingml/2006/main">
            <a:r>
              <a:t>Sources:</a:t>
            </a:r>
          </a:p>
          <a:p xmlns:a="http://schemas.openxmlformats.org/drawingml/2006/main">
            <a:r>
              <a:t>thermo_candidates/SrZrS3/phono3py/evidence/first_pass_unconverged/force_audit_summary.json</a:t>
            </a:r>
          </a:p>
          <a:p xmlns:a="http://schemas.openxmlformats.org/drawingml/2006/main">
            <a:r>
              <a:t>thermo_candidates/Rb2Cu2SnS4/phono3py/evidence/firstpass_20260914/production/postprocess_22312417_hdf5_readonly_audit_20260920.json</a:t>
            </a:r>
          </a:p>
          <a:p xmlns:a="http://schemas.openxmlformats.org/drawingml/2006/main">
            <a:r>
              <a:t>thermo_candidates/SrCu2SnS4/phono3py_v2/campaign.json</a:t>
            </a:r>
          </a:p>
          <a:p xmlns:a="http://schemas.openxmlformats.org/drawingml/2006/main">
            <a:r>
              <a:t>fourth step result (phono3py lattice thermal conductivity)/README.md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historical Quantum ESPRESSO interface interpreted the pair cutoff in bohr. The value four therefore meant about 2.12 angstrom, and the included pair groups were onsite only. The new preparation explicitly converts four angstrom to about 7.5589 bohr and requests uniform force settings. These software corrections do not demonstrate a converged force dataset. The old raw outputs and sent attachments remain unchanged.</a:t>
            </a:r>
          </a:p>
          <a:p xmlns:a="http://schemas.openxmlformats.org/drawingml/2006/main">
            <a:r>
              <a:t/>
            </a:r>
          </a:p>
          <a:p xmlns:a="http://schemas.openxmlformats.org/drawingml/2006/main">
            <a:r>
              <a:t>Sources:</a:t>
            </a:r>
          </a:p>
          <a:p xmlns:a="http://schemas.openxmlformats.org/drawingml/2006/main">
            <a:r>
              <a:t>thermo_candidates/SrCu2SnS4/phono3py_v2/campaign.json</a:t>
            </a:r>
          </a:p>
          <a:p xmlns:a="http://schemas.openxmlformats.org/drawingml/2006/main">
            <a:r>
              <a:t>thermo_candidates/SrCu2SnS4/phono3py/phono3py_disp.yaml</a:t>
            </a:r>
          </a:p>
          <a:p xmlns:a="http://schemas.openxmlformats.org/drawingml/2006/main">
            <a:r>
              <a:t>fourth step result (phono3py lattice thermal conductivity)/README.md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propose beginning with a healthy independent pristine calculation and a small set of repeated single and pair displacement controls. The detailed plan defines how to distinguish numerical noise from incremental force signal and when to stop. Amplitude and force-setting sensitivity should inform any larger production campaign. The exact displacement count and cost require real generation and measured timing. No new campaign has been submitted.</a:t>
            </a:r>
          </a:p>
          <a:p xmlns:a="http://schemas.openxmlformats.org/drawingml/2006/main">
            <a:r>
              <a:t/>
            </a:r>
          </a:p>
          <a:p xmlns:a="http://schemas.openxmlformats.org/drawingml/2006/main">
            <a:r>
              <a:t>Sources:</a:t>
            </a:r>
          </a:p>
          <a:p xmlns:a="http://schemas.openxmlformats.org/drawingml/2006/main">
            <a:r>
              <a:t>thermo_candidates/SrCu2SnS4/phono3py_v2/campaign.json</a:t>
            </a:r>
          </a:p>
          <a:p xmlns:a="http://schemas.openxmlformats.org/drawingml/2006/main">
            <a:r>
              <a:t>experiments/phonon_research_sandbox/plans/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saved first-pass audit reports a minimum frequency of minus 1.0716 terahertz at the stated q point. Twelve sampled modes are below minus 0.1 terahertz. The pristine residual force exceeded the preferred threshold, and a historical exception allowed a diagnostic continuation. Residual forces, force convergence and finite-range effects deserve targeted controls before a physical instability interpretation. Eigenvectors and structural response would help distinguish competing explanations. Simply removing imaginary modes would not validate thermal conductivity.</a:t>
            </a:r>
          </a:p>
          <a:p xmlns:a="http://schemas.openxmlformats.org/drawingml/2006/main">
            <a:r>
              <a:t/>
            </a:r>
          </a:p>
          <a:p xmlns:a="http://schemas.openxmlformats.org/drawingml/2006/main">
            <a:r>
              <a:t>Sources:</a:t>
            </a:r>
          </a:p>
          <a:p xmlns:a="http://schemas.openxmlformats.org/drawingml/2006/main">
            <a:r>
              <a:t>thermo_candidates/SrZrS3/phono3py/evidence/first_pass_unconverged/force_audit_summary.json</a:t>
            </a:r>
          </a:p>
          <a:p xmlns:a="http://schemas.openxmlformats.org/drawingml/2006/main">
            <a:r>
              <a:t>experiments/phonon_research_sandbox/plans/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figure replots the conventional Cartesian tensor components recorded in the September 20 audit. The horizontal axis is the phono3py q-mesh density length, not a real-space cutoff or a supercell size. The zz component changes substantially across the ladder, while yy is comparatively less sensitive. All values are rejected first-pass diagnostics. I have neither fitted an asymptote nor estimated a supposedly converged thermal conductivity.</a:t>
            </a:r>
          </a:p>
          <a:p xmlns:a="http://schemas.openxmlformats.org/drawingml/2006/main">
            <a:r>
              <a:t/>
            </a:r>
          </a:p>
          <a:p xmlns:a="http://schemas.openxmlformats.org/drawingml/2006/main">
            <a:r>
              <a:t>Sources:</a:t>
            </a:r>
          </a:p>
          <a:p xmlns:a="http://schemas.openxmlformats.org/drawingml/2006/main">
            <a:r>
              <a:t>thermo_candidates/Rb2Cu2SnS4/phono3py/evidence/firstpass_20260914/production/postprocess_22312417_hdf5_readonly_audit_20260920.json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recalculated these changes using the same denominator as the implemented gate: the denser mesh result. At 300 kelvin, the average changes by about 4.266 percent and the largest diagonal by about 10.192 percent. Both fail. The same conclusion holds at 600 and 900 kelvin, and no earlier transition passes. A denser mesh could reuse the force constants only for the same underlying force model with retained provenance. It would still not establish supercell, cutoff or amplitude convergence.</a:t>
            </a:r>
          </a:p>
          <a:p xmlns:a="http://schemas.openxmlformats.org/drawingml/2006/main">
            <a:r>
              <a:t/>
            </a:r>
          </a:p>
          <a:p xmlns:a="http://schemas.openxmlformats.org/drawingml/2006/main">
            <a:r>
              <a:t>Sources:</a:t>
            </a:r>
          </a:p>
          <a:p xmlns:a="http://schemas.openxmlformats.org/drawingml/2006/main">
            <a:r>
              <a:t>thermo_candidates/Rb2Cu2SnS4/phono3py/evidence/firstpass_20260914/production/postprocess_22312417_hdf5_readonly_audit_20260920.json</a:t>
            </a:r>
          </a:p>
          <a:p xmlns:a="http://schemas.openxmlformats.org/drawingml/2006/main">
            <a:r>
              <a:t>thermo_candidates/Rb2Cu2SnS4/phono3py/run_postprocess_firstpass.py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alternatives for discussion, not a decision made on behalf of Roy. For SrCu2SnS4, the benefit is a clean corrected baseline. For SrZrS3, the key benefit is understanding a failure mechanism. For Rb2Cu2SnS4, existing force data may support a bounded convergence study, but provenance and force-model limitations must remain explicit. I will estimate resource use from actual task counts and measured timing before asking to expand any route.</a:t>
            </a:r>
          </a:p>
          <a:p xmlns:a="http://schemas.openxmlformats.org/drawingml/2006/main">
            <a:r>
              <a:t/>
            </a:r>
          </a:p>
          <a:p xmlns:a="http://schemas.openxmlformats.org/drawingml/2006/main">
            <a:r>
              <a:t>Sources:</a:t>
            </a:r>
          </a:p>
          <a:p xmlns:a="http://schemas.openxmlformats.org/drawingml/2006/main">
            <a:r>
              <a:t>experiments/phonon_research_sandbox/plans/</a:t>
            </a:r>
          </a:p>
          <a:p xmlns:a="http://schemas.openxmlformats.org/drawingml/2006/main">
            <a:r>
              <a:t>experiments/phonon_research_sandbox/CURRENT_STATE.md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have sent the revised status update and am awaiting guidance on the next priority. I would appreciate guidance on whether to prioritize the corrected SrCu2SnS4 baseline, diagnose SrZrS3, or continue a bounded Rb2Cu2SnS4 convergence study. The accompanying plans and local evidence dashboard make these options reviewable. No new cluster calculation or email was initiated during this preparation round.</a:t>
            </a:r>
          </a:p>
          <a:p xmlns:a="http://schemas.openxmlformats.org/drawingml/2006/main">
            <a:r>
              <a:t/>
            </a:r>
          </a:p>
          <a:p xmlns:a="http://schemas.openxmlformats.org/drawingml/2006/main">
            <a:r>
              <a:t>Sources:</a:t>
            </a:r>
          </a:p>
          <a:p xmlns:a="http://schemas.openxmlformats.org/drawingml/2006/main">
            <a:r>
              <a:t>experiments/phonon_research_sandbox/CURRENT_STATE.md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d01e4d6cb045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5c80125e0dd40b8" /><Relationship Type="http://schemas.openxmlformats.org/officeDocument/2006/relationships/slideLayout" Target="/ppt/slideLayouts/slideLayout1.xml" Id="R815c6aceb3094a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5c6aceb3094a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39fdb540e1a468a" /><Relationship Type="http://schemas.openxmlformats.org/officeDocument/2006/relationships/notesSlide" Target="/ppt/notesSlides/notesSlide1.xml" Id="Ra1fafdaca314445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2dc25b84a8d4993" /><Relationship Type="http://schemas.openxmlformats.org/officeDocument/2006/relationships/image" Target="/ppt/media/image.png" Id="R7b36265650754544" /><Relationship Type="http://schemas.openxmlformats.org/officeDocument/2006/relationships/notesSlide" Target="/ppt/notesSlides/notesSlide2.xml" Id="Rf65109dcdfe34a2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6bc48c4130a48a0" /><Relationship Type="http://schemas.openxmlformats.org/officeDocument/2006/relationships/chart" Target="/ppt/slides/charts/chart1.xml" Id="Rbbaf17f1f8af422f" /><Relationship Type="http://schemas.openxmlformats.org/officeDocument/2006/relationships/notesSlide" Target="/ppt/notesSlides/notesSlide3.xml" Id="Rae1a79260fef49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5a1455260434cdb" /><Relationship Type="http://schemas.openxmlformats.org/officeDocument/2006/relationships/notesSlide" Target="/ppt/notesSlides/notesSlide4.xml" Id="Rc69ca1600f6c45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42515a10b4e4420" /><Relationship Type="http://schemas.openxmlformats.org/officeDocument/2006/relationships/notesSlide" Target="/ppt/notesSlides/notesSlide5.xml" Id="Re433b55ff7724b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13c8ac9b04f403f" /><Relationship Type="http://schemas.openxmlformats.org/officeDocument/2006/relationships/notesSlide" Target="/ppt/notesSlides/notesSlide6.xml" Id="R009872050a0b4e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35a1d248fb84452" /><Relationship Type="http://schemas.openxmlformats.org/officeDocument/2006/relationships/notesSlide" Target="/ppt/notesSlides/notesSlide7.xml" Id="R7a7af1e3891d4e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724af71c7034f45" /><Relationship Type="http://schemas.openxmlformats.org/officeDocument/2006/relationships/chart" Target="/ppt/slides/charts/chart2.xml" Id="Re9a569ded36d4457" /><Relationship Type="http://schemas.openxmlformats.org/officeDocument/2006/relationships/notesSlide" Target="/ppt/notesSlides/notesSlide8.xml" Id="Re686413275ce441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aac1910b217485c" /><Relationship Type="http://schemas.openxmlformats.org/officeDocument/2006/relationships/chart" Target="/ppt/slides/charts/chart3.xml" Id="Rada1019c44d147ec" /><Relationship Type="http://schemas.openxmlformats.org/officeDocument/2006/relationships/notesSlide" Target="/ppt/notesSlides/notesSlide9.xml" Id="Rf72aa1b11bda43f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15a3866373243fd" /><Relationship Type="http://schemas.openxmlformats.org/officeDocument/2006/relationships/notesSlide" Target="/ppt/notesSlides/notesSlide10.xml" Id="Raac7720794934b4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68a1b0dbf7a4c54" /><Relationship Type="http://schemas.openxmlformats.org/officeDocument/2006/relationships/notesSlide" Target="/ppt/notesSlides/notesSlide11.xml" Id="R19a2bc3cd02f4d6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n-type</c:v>
          </c:tx>
          <c:spPr>
            <a:solidFill xmlns:a="http://schemas.openxmlformats.org/drawingml/2006/main">
              <a:srgbClr val="4D6CAF"/>
            </a:solidFill>
          </c:spPr>
          <c:dLbls>
            <c:dLbl>
              <c:idx val="0"/>
              <c:tx>
                <c:rich>
                  <a:bodyPr xmlns:a="http://schemas.openxmlformats.org/drawingml/2006/main"/>
                  <a:lstStyle xmlns:a="http://schemas.openxmlformats.org/drawingml/2006/main"/>
                  <a:p xmlns:a="http://schemas.openxmlformats.org/drawingml/2006/main">
                    <a:r>
                      <a:rPr sz="1575">
                        <a:latin typeface="Arial"/>
                        <a:ea typeface="Arial"/>
                        <a:cs typeface="Arial"/>
                      </a:rPr>
                      <a:t>0.13</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75">
                        <a:latin typeface="Arial"/>
                        <a:ea typeface="Arial"/>
                        <a:cs typeface="Arial"/>
                      </a:rPr>
                      <a:t>0.41</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575">
                        <a:latin typeface="Arial"/>
                        <a:ea typeface="Arial"/>
                        <a:cs typeface="Arial"/>
                      </a:rPr>
                      <a:t>0.21</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showLegendKey val="0"/>
              <c:showVal val="0"/>
              <c:showCatName val="0"/>
              <c:showSerName val="0"/>
              <c:showPercent val="0"/>
              <c:showBubbleSize val="0"/>
            </c:dLbl>
          </c:dLbls>
          <c:cat>
            <c:strRef>
              <c:f>'Chart Data'!$A$2:$A$4</c:f>
              <c:strCache>
                <c:ptCount val="3"/>
                <c:pt idx="0">
                  <c:v>SrCu2SnS4</c:v>
                </c:pt>
                <c:pt idx="1">
                  <c:v>SrZrS3</c:v>
                </c:pt>
                <c:pt idx="2">
                  <c:v>Rb2Cu2SnS4</c:v>
                </c:pt>
              </c:strCache>
            </c:strRef>
          </c:cat>
          <c:val>
            <c:numRef>
              <c:f>'Chart Data'!$B$2:$B$4</c:f>
              <c:numCache>
                <c:formatCode>0.00</c:formatCode>
                <c:ptCount val="3"/>
                <c:pt idx="0">
                  <c:v>0.1330286635</c:v>
                </c:pt>
                <c:pt idx="1">
                  <c:v>0.4080334535</c:v>
                </c:pt>
                <c:pt idx="2">
                  <c:v>0.2067199404</c:v>
                </c:pt>
              </c:numCache>
            </c:numRef>
          </c:val>
        </c:ser>
        <c:ser>
          <c:idx val="1"/>
          <c:order val="1"/>
          <c:tx>
            <c:v>p-type</c:v>
          </c:tx>
          <c:spPr>
            <a:solidFill xmlns:a="http://schemas.openxmlformats.org/drawingml/2006/main">
              <a:srgbClr val="007F7B"/>
            </a:solidFill>
          </c:spPr>
          <c:dLbls>
            <c:dLbl>
              <c:idx val="0"/>
              <c:tx>
                <c:rich>
                  <a:bodyPr xmlns:a="http://schemas.openxmlformats.org/drawingml/2006/main"/>
                  <a:lstStyle xmlns:a="http://schemas.openxmlformats.org/drawingml/2006/main"/>
                  <a:p xmlns:a="http://schemas.openxmlformats.org/drawingml/2006/main">
                    <a:r>
                      <a:rPr sz="1575">
                        <a:latin typeface="Arial"/>
                        <a:ea typeface="Arial"/>
                        <a:cs typeface="Arial"/>
                      </a:rPr>
                      <a:t>0.56</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75">
                        <a:latin typeface="Arial"/>
                        <a:ea typeface="Arial"/>
                        <a:cs typeface="Arial"/>
                      </a:rPr>
                      <a:t>0.37</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575">
                        <a:latin typeface="Arial"/>
                        <a:ea typeface="Arial"/>
                        <a:cs typeface="Arial"/>
                      </a:rPr>
                      <a:t>1.64</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showLegendKey val="0"/>
              <c:showVal val="0"/>
              <c:showCatName val="0"/>
              <c:showSerName val="0"/>
              <c:showPercent val="0"/>
              <c:showBubbleSize val="0"/>
            </c:dLbl>
          </c:dLbls>
          <c:cat>
            <c:strRef>
              <c:f>'Chart Data'!$C$2:$C$4</c:f>
              <c:strCache>
                <c:ptCount val="3"/>
                <c:pt idx="0">
                  <c:v>SrCu2SnS4</c:v>
                </c:pt>
                <c:pt idx="1">
                  <c:v>SrZrS3</c:v>
                </c:pt>
                <c:pt idx="2">
                  <c:v>Rb2Cu2SnS4</c:v>
                </c:pt>
              </c:strCache>
            </c:strRef>
          </c:cat>
          <c:val>
            <c:numRef>
              <c:f>'Chart Data'!$D$2:$D$4</c:f>
              <c:numCache>
                <c:formatCode>0.00</c:formatCode>
                <c:ptCount val="3"/>
                <c:pt idx="0">
                  <c:v>0.5562307432</c:v>
                </c:pt>
                <c:pt idx="1">
                  <c:v>0.3675143318</c:v>
                </c:pt>
                <c:pt idx="2">
                  <c:v>1.64374825</c:v>
                </c:pt>
              </c:numCache>
            </c:numRef>
          </c:val>
        </c:ser>
        <c:dLbls>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in val="0"/>
        </c:scaling>
        <c:delete val="0"/>
        <c:axPos val="l"/>
        <c:majorGridlines>
          <c:spPr>
            <a:ln xmlns:a="http://schemas.openxmlformats.org/drawingml/2006/main" w="9525">
              <a:solidFill>
                <a:srgbClr val="DFE4E1"/>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PF/τ (10¹¹ W m⁻¹ K⁻² s⁻¹)</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valAx>
      <c:spPr>
        <a:solidFill xmlns:a="http://schemas.openxmlformats.org/drawingml/2006/main">
          <a:srgbClr val="F7F8F5"/>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legend>
    <c:plotVisOnly val="1"/>
  </c:chart>
  <c:spPr>
    <a:solidFill xmlns:a="http://schemas.openxmlformats.org/drawingml/2006/main">
      <a:srgbClr val="F7F8F5"/>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xx</c:v>
          </c:tx>
          <c:spPr>
            <a:ln xmlns:a="http://schemas.openxmlformats.org/drawingml/2006/main" w="28575">
              <a:solidFill>
                <a:srgbClr val="007F7B"/>
              </a:solidFill>
            </a:ln>
          </c:spPr>
          <c:marker>
            <c:symbol val="circle"/>
            <c:size val="7"/>
            <c:spPr>
              <a:solidFill xmlns:a="http://schemas.openxmlformats.org/drawingml/2006/main">
                <a:srgbClr val="007F7B"/>
              </a:solidFill>
            </c:spPr>
          </c:marker>
          <c:cat>
            <c:numRef>
              <c:f>'Chart Data'!$A$2:$A$6</c:f>
              <c:numCache>
                <c:formatCode>General</c:formatCode>
                <c:ptCount val="5"/>
                <c:pt idx="0">
                  <c:v>45</c:v>
                </c:pt>
                <c:pt idx="1">
                  <c:v>60</c:v>
                </c:pt>
                <c:pt idx="2">
                  <c:v>75</c:v>
                </c:pt>
                <c:pt idx="3">
                  <c:v>90</c:v>
                </c:pt>
                <c:pt idx="4">
                  <c:v>105</c:v>
                </c:pt>
              </c:numCache>
            </c:numRef>
          </c:cat>
          <c:val>
            <c:numRef>
              <c:f>'Chart Data'!$B$2:$B$6</c:f>
              <c:numCache>
                <c:formatCode>0.00</c:formatCode>
                <c:ptCount val="5"/>
                <c:pt idx="0">
                  <c:v>0.1320489838</c:v>
                </c:pt>
                <c:pt idx="1">
                  <c:v>0.1396774382</c:v>
                </c:pt>
                <c:pt idx="2">
                  <c:v>0.1423242895</c:v>
                </c:pt>
                <c:pt idx="3">
                  <c:v>0.1429262149</c:v>
                </c:pt>
                <c:pt idx="4">
                  <c:v>0.1466814312</c:v>
                </c:pt>
              </c:numCache>
            </c:numRef>
          </c:val>
        </c:ser>
        <c:ser>
          <c:idx val="1"/>
          <c:order val="1"/>
          <c:tx>
            <c:v>yy</c:v>
          </c:tx>
          <c:spPr>
            <a:ln xmlns:a="http://schemas.openxmlformats.org/drawingml/2006/main" w="28575">
              <a:solidFill>
                <a:srgbClr val="4D6CAF"/>
              </a:solidFill>
            </a:ln>
          </c:spPr>
          <c:marker>
            <c:symbol val="circle"/>
            <c:size val="7"/>
            <c:spPr>
              <a:solidFill xmlns:a="http://schemas.openxmlformats.org/drawingml/2006/main">
                <a:srgbClr val="4D6CAF"/>
              </a:solidFill>
            </c:spPr>
          </c:marker>
          <c:cat>
            <c:numRef>
              <c:f>'Chart Data'!$C$2:$C$6</c:f>
              <c:numCache>
                <c:formatCode>General</c:formatCode>
                <c:ptCount val="5"/>
                <c:pt idx="0">
                  <c:v>45</c:v>
                </c:pt>
                <c:pt idx="1">
                  <c:v>60</c:v>
                </c:pt>
                <c:pt idx="2">
                  <c:v>75</c:v>
                </c:pt>
                <c:pt idx="3">
                  <c:v>90</c:v>
                </c:pt>
                <c:pt idx="4">
                  <c:v>105</c:v>
                </c:pt>
              </c:numCache>
            </c:numRef>
          </c:cat>
          <c:val>
            <c:numRef>
              <c:f>'Chart Data'!$D$2:$D$6</c:f>
              <c:numCache>
                <c:formatCode>0.00</c:formatCode>
                <c:ptCount val="5"/>
                <c:pt idx="0">
                  <c:v>0.1459650504</c:v>
                </c:pt>
                <c:pt idx="1">
                  <c:v>0.1384183912</c:v>
                </c:pt>
                <c:pt idx="2">
                  <c:v>0.1372792265</c:v>
                </c:pt>
                <c:pt idx="3">
                  <c:v>0.1389121001</c:v>
                </c:pt>
                <c:pt idx="4">
                  <c:v>0.139275926</c:v>
                </c:pt>
              </c:numCache>
            </c:numRef>
          </c:val>
        </c:ser>
        <c:ser>
          <c:idx val="2"/>
          <c:order val="2"/>
          <c:tx>
            <c:v>zz</c:v>
          </c:tx>
          <c:spPr>
            <a:ln xmlns:a="http://schemas.openxmlformats.org/drawingml/2006/main" w="28575">
              <a:solidFill>
                <a:srgbClr val="B46936"/>
              </a:solidFill>
            </a:ln>
          </c:spPr>
          <c:marker>
            <c:symbol val="circle"/>
            <c:size val="7"/>
            <c:spPr>
              <a:solidFill xmlns:a="http://schemas.openxmlformats.org/drawingml/2006/main">
                <a:srgbClr val="B46936"/>
              </a:solidFill>
            </c:spPr>
          </c:marker>
          <c:cat>
            <c:numRef>
              <c:f>'Chart Data'!$E$2:$E$6</c:f>
              <c:numCache>
                <c:formatCode>General</c:formatCode>
                <c:ptCount val="5"/>
                <c:pt idx="0">
                  <c:v>45</c:v>
                </c:pt>
                <c:pt idx="1">
                  <c:v>60</c:v>
                </c:pt>
                <c:pt idx="2">
                  <c:v>75</c:v>
                </c:pt>
                <c:pt idx="3">
                  <c:v>90</c:v>
                </c:pt>
                <c:pt idx="4">
                  <c:v>105</c:v>
                </c:pt>
              </c:numCache>
            </c:numRef>
          </c:cat>
          <c:val>
            <c:numRef>
              <c:f>'Chart Data'!$F$2:$F$6</c:f>
              <c:numCache>
                <c:formatCode>0.00</c:formatCode>
                <c:ptCount val="5"/>
                <c:pt idx="0">
                  <c:v>0.08117056144</c:v>
                </c:pt>
                <c:pt idx="1">
                  <c:v>0.09151365964</c:v>
                </c:pt>
                <c:pt idx="2">
                  <c:v>0.1135468509</c:v>
                </c:pt>
                <c:pt idx="3">
                  <c:v>0.1224715416</c:v>
                </c:pt>
                <c:pt idx="4">
                  <c:v>0.1363703426</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25">
                    <a:latin typeface="Arial"/>
                    <a:ea typeface="Arial"/>
                    <a:cs typeface="Arial"/>
                  </a:rPr>
                  <a:t>q-mesh density length (Å)</a:t>
                </a:r>
              </a:p>
            </c:rich>
          </c:tx>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72768"/>
      </c:catAx>
      <c:valAx>
        <c:axId val="48672768"/>
        <c:scaling>
          <c:orientation val="minMax"/>
          <c:max val="0.17"/>
          <c:min val="0.06"/>
        </c:scaling>
        <c:delete val="0"/>
        <c:axPos val="l"/>
        <c:majorGridlines>
          <c:spPr>
            <a:ln xmlns:a="http://schemas.openxmlformats.org/drawingml/2006/main" w="9525">
              <a:solidFill>
                <a:srgbClr val="DDE2DE"/>
              </a:solidFill>
            </a:ln>
          </c:spPr>
        </c:majorGridlines>
        <c:title>
          <c:tx>
            <c:rich>
              <a:bodyPr xmlns:a="http://schemas.openxmlformats.org/drawingml/2006/main"/>
              <a:lstStyle xmlns:a="http://schemas.openxmlformats.org/drawingml/2006/main"/>
              <a:p xmlns:a="http://schemas.openxmlformats.org/drawingml/2006/main">
                <a:r>
                  <a:rPr sz="1725">
                    <a:latin typeface="Arial"/>
                    <a:ea typeface="Arial"/>
                    <a:cs typeface="Arial"/>
                  </a:rPr>
                  <a:t>κL (W m⁻¹ K⁻¹)</a:t>
                </a:r>
              </a:p>
            </c:rich>
          </c:tx>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spPr>
        <a:solidFill xmlns:a="http://schemas.openxmlformats.org/drawingml/2006/main">
          <a:srgbClr val="F7F8F5"/>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legend>
    <c:plotVisOnly val="1"/>
  </c:chart>
  <c:spPr>
    <a:solidFill xmlns:a="http://schemas.openxmlformats.org/drawingml/2006/main">
      <a:srgbClr val="F7F8F5"/>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trace / 3 change</c:v>
          </c:tx>
          <c:spPr>
            <a:solidFill xmlns:a="http://schemas.openxmlformats.org/drawingml/2006/main">
              <a:srgbClr val="007F7B"/>
            </a:solidFill>
          </c:spPr>
          <c:dLbls>
            <c:dLbl>
              <c:idx val="0"/>
              <c:tx>
                <c:rich>
                  <a:bodyPr xmlns:a="http://schemas.openxmlformats.org/drawingml/2006/main"/>
                  <a:lstStyle xmlns:a="http://schemas.openxmlformats.org/drawingml/2006/main"/>
                  <a:p xmlns:a="http://schemas.openxmlformats.org/drawingml/2006/main">
                    <a:r>
                      <a:rPr sz="1575">
                        <a:latin typeface="Arial"/>
                        <a:ea typeface="Arial"/>
                        <a:cs typeface="Arial"/>
                      </a:rPr>
                      <a:t>4.27</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75">
                        <a:latin typeface="Arial"/>
                        <a:ea typeface="Arial"/>
                        <a:cs typeface="Arial"/>
                      </a:rPr>
                      <a:t>4.08</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575">
                        <a:latin typeface="Arial"/>
                        <a:ea typeface="Arial"/>
                        <a:cs typeface="Arial"/>
                      </a:rPr>
                      <a:t>4.05</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showLegendKey val="0"/>
              <c:showVal val="0"/>
              <c:showCatName val="0"/>
              <c:showSerName val="0"/>
              <c:showPercent val="0"/>
              <c:showBubbleSize val="0"/>
            </c:dLbl>
          </c:dLbls>
          <c:cat>
            <c:strRef>
              <c:f>'Chart Data'!$A$2:$A$4</c:f>
              <c:strCache>
                <c:ptCount val="3"/>
                <c:pt idx="0">
                  <c:v>300 K</c:v>
                </c:pt>
                <c:pt idx="1">
                  <c:v>600 K</c:v>
                </c:pt>
                <c:pt idx="2">
                  <c:v>900 K</c:v>
                </c:pt>
              </c:strCache>
            </c:strRef>
          </c:cat>
          <c:val>
            <c:numRef>
              <c:f>'Chart Data'!$B$2:$B$4</c:f>
              <c:numCache>
                <c:formatCode>0.00</c:formatCode>
                <c:ptCount val="3"/>
                <c:pt idx="0">
                  <c:v>4.266318115</c:v>
                </c:pt>
                <c:pt idx="1">
                  <c:v>4.083070792</c:v>
                </c:pt>
                <c:pt idx="2">
                  <c:v>4.046940053</c:v>
                </c:pt>
              </c:numCache>
            </c:numRef>
          </c:val>
        </c:ser>
        <c:ser>
          <c:idx val="1"/>
          <c:order val="1"/>
          <c:tx>
            <c:v>Largest diagonal change</c:v>
          </c:tx>
          <c:spPr>
            <a:solidFill xmlns:a="http://schemas.openxmlformats.org/drawingml/2006/main">
              <a:srgbClr val="B46936"/>
            </a:solidFill>
          </c:spPr>
          <c:dLbls>
            <c:dLbl>
              <c:idx val="0"/>
              <c:tx>
                <c:rich>
                  <a:bodyPr xmlns:a="http://schemas.openxmlformats.org/drawingml/2006/main"/>
                  <a:lstStyle xmlns:a="http://schemas.openxmlformats.org/drawingml/2006/main"/>
                  <a:p xmlns:a="http://schemas.openxmlformats.org/drawingml/2006/main">
                    <a:r>
                      <a:rPr sz="1575">
                        <a:latin typeface="Arial"/>
                        <a:ea typeface="Arial"/>
                        <a:cs typeface="Arial"/>
                      </a:rPr>
                      <a:t>10.19</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575">
                        <a:latin typeface="Arial"/>
                        <a:ea typeface="Arial"/>
                        <a:cs typeface="Arial"/>
                      </a:rPr>
                      <a:t>9.69</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575">
                        <a:latin typeface="Arial"/>
                        <a:ea typeface="Arial"/>
                        <a:cs typeface="Arial"/>
                      </a:rPr>
                      <a:t>9.59</a:t>
                    </a:r>
                  </a:p>
                </c:rich>
              </c:tx>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showLegendKey val="0"/>
              <c:showVal val="0"/>
              <c:showCatName val="0"/>
              <c:showSerName val="0"/>
              <c:showPercent val="0"/>
              <c:showBubbleSize val="0"/>
            </c:dLbl>
          </c:dLbls>
          <c:cat>
            <c:strRef>
              <c:f>'Chart Data'!$C$2:$C$4</c:f>
              <c:strCache>
                <c:ptCount val="3"/>
                <c:pt idx="0">
                  <c:v>300 K</c:v>
                </c:pt>
                <c:pt idx="1">
                  <c:v>600 K</c:v>
                </c:pt>
                <c:pt idx="2">
                  <c:v>900 K</c:v>
                </c:pt>
              </c:strCache>
            </c:strRef>
          </c:cat>
          <c:val>
            <c:numRef>
              <c:f>'Chart Data'!$D$2:$D$4</c:f>
              <c:numCache>
                <c:formatCode>0.00</c:formatCode>
                <c:ptCount val="3"/>
                <c:pt idx="0">
                  <c:v>10.1919528</c:v>
                </c:pt>
                <c:pt idx="1">
                  <c:v>9.69205464</c:v>
                </c:pt>
                <c:pt idx="2">
                  <c:v>9.59429767</c:v>
                </c:pt>
              </c:numCache>
            </c:numRef>
          </c:val>
        </c:ser>
        <c:dLbls>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72768"/>
      </c:catAx>
      <c:valAx>
        <c:axId val="48672768"/>
        <c:scaling>
          <c:orientation val="minMax"/>
          <c:max val="12"/>
          <c:min val="0"/>
        </c:scaling>
        <c:delete val="0"/>
        <c:axPos val="l"/>
        <c:majorGridlines>
          <c:spPr>
            <a:ln xmlns:a="http://schemas.openxmlformats.org/drawingml/2006/main" w="9525">
              <a:solidFill>
                <a:srgbClr val="DDE2DE"/>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Absolute relative change (%)</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Arial"/>
                <a:ea typeface="Arial"/>
                <a:cs typeface="Arial"/>
              </a:defRPr>
            </a:pPr>
          </a:p>
        </c:txPr>
        <c:crossAx val="48650112"/>
        <c:crossBetween val="between"/>
      </c:valAx>
      <c:spPr>
        <a:solidFill xmlns:a="http://schemas.openxmlformats.org/drawingml/2006/main">
          <a:srgbClr val="F7F8F5"/>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legend>
    <c:plotVisOnly val="1"/>
  </c:chart>
  <c:spPr>
    <a:solidFill xmlns:a="http://schemas.openxmlformats.org/drawingml/2006/main">
      <a:srgbClr val="F7F8F5"/>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333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924712D-74B2-4C97-8C59-07F936385F8E}"/>
              </a:ext>
            </a:extLst>
          </p:cNvPr>
          <p:cNvSpPr>
            <a:spLocks xmlns:a="http://schemas.openxmlformats.org/drawingml/2006/main" noGrp="1"/>
          </p:cNvSpPr>
          <p:nvPr/>
        </p:nvSpPr>
        <p:spPr>
          <a:xfrm xmlns:a="http://schemas.openxmlformats.org/drawingml/2006/main">
            <a:off x="685800" y="9525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FFFFF"/>
                </a:solidFill>
                <a:latin typeface="Arial"/>
                <a:ea typeface="Arial"/>
                <a:cs typeface="Arial"/>
              </a:defRPr>
            </a:pPr>
            <a:r>
              <a:rPr sz="4650" b="1">
                <a:solidFill>
                  <a:srgbClr val="FFFFFF"/>
                </a:solidFill>
                <a:latin typeface="Arial"/>
                <a:ea typeface="Arial"/>
                <a:cs typeface="Arial"/>
              </a:rPr>
              <a:t>Thermoelectric sulfides</a:t>
            </a:r>
          </a:p>
        </p:txBody>
      </p:sp>
      <p:sp>
        <p:nvSpPr>
          <p:cNvPr id="2" name="">
            <a:extLst xmlns:a="http://schemas.openxmlformats.org/drawingml/2006/main">
              <a:ext uri="{FF2B5EF4-FFF2-40B4-BE49-F238E27FC236}">
                <a16:creationId xmlns:a16="http://schemas.microsoft.com/office/drawing/2014/main" id="{96F01BBD-CAB0-4AB9-96AC-F038647CB706}"/>
              </a:ext>
            </a:extLst>
          </p:cNvPr>
          <p:cNvSpPr>
            <a:spLocks xmlns:a="http://schemas.openxmlformats.org/drawingml/2006/main" noGrp="1"/>
          </p:cNvSpPr>
          <p:nvPr/>
        </p:nvSpPr>
        <p:spPr>
          <a:xfrm xmlns:a="http://schemas.openxmlformats.org/drawingml/2006/main">
            <a:off x="723900" y="2143125"/>
            <a:ext cx="1009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D3E6DF"/>
                </a:solidFill>
                <a:latin typeface="Arial"/>
                <a:ea typeface="Arial"/>
                <a:cs typeface="Arial"/>
              </a:defRPr>
            </a:pPr>
            <a:r>
              <a:rPr sz="2550" b="0">
                <a:solidFill>
                  <a:srgbClr val="D3E6DF"/>
                </a:solidFill>
                <a:latin typeface="Arial"/>
                <a:ea typeface="Arial"/>
                <a:cs typeface="Arial"/>
              </a:rPr>
              <a:t>Electronic screening and phonon research progress</a:t>
            </a:r>
          </a:p>
        </p:txBody>
      </p:sp>
      <p:sp>
        <p:nvSpPr>
          <p:cNvPr id="3" name="">
            <a:extLst xmlns:a="http://schemas.openxmlformats.org/drawingml/2006/main">
              <a:ext uri="{FF2B5EF4-FFF2-40B4-BE49-F238E27FC236}">
                <a16:creationId xmlns:a16="http://schemas.microsoft.com/office/drawing/2014/main" id="{BF1A58A7-8802-40C6-9D66-59D37C275FE6}"/>
              </a:ext>
            </a:extLst>
          </p:cNvPr>
          <p:cNvSpPr>
            <a:spLocks xmlns:a="http://schemas.openxmlformats.org/drawingml/2006/main" noGrp="1"/>
          </p:cNvSpPr>
          <p:nvPr/>
        </p:nvSpPr>
        <p:spPr>
          <a:xfrm xmlns:a="http://schemas.openxmlformats.org/drawingml/2006/main">
            <a:off x="723900" y="338137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Arial"/>
                <a:ea typeface="Arial"/>
                <a:cs typeface="Arial"/>
              </a:defRPr>
            </a:pPr>
            <a:r>
              <a:rPr sz="2400" b="0">
                <a:solidFill>
                  <a:srgbClr val="FFFFFF"/>
                </a:solidFill>
                <a:latin typeface="Arial"/>
                <a:ea typeface="Arial"/>
                <a:cs typeface="Arial"/>
              </a:rPr>
              <a:t>SrCu2SnS4   /   SrZrS3   /   Rb2Cu2SnS4</a:t>
            </a:r>
          </a:p>
        </p:txBody>
      </p:sp>
      <p:sp>
        <p:nvSpPr>
          <p:cNvPr id="4" name="">
            <a:extLst xmlns:a="http://schemas.openxmlformats.org/drawingml/2006/main">
              <a:ext uri="{FF2B5EF4-FFF2-40B4-BE49-F238E27FC236}">
                <a16:creationId xmlns:a16="http://schemas.microsoft.com/office/drawing/2014/main" id="{EA5E7004-DB14-4D34-A1FB-52C4F75E9218}"/>
              </a:ext>
            </a:extLst>
          </p:cNvPr>
          <p:cNvSpPr>
            <a:spLocks xmlns:a="http://schemas.openxmlformats.org/drawingml/2006/main" noGrp="1"/>
          </p:cNvSpPr>
          <p:nvPr/>
        </p:nvSpPr>
        <p:spPr>
          <a:xfrm xmlns:a="http://schemas.openxmlformats.org/drawingml/2006/main">
            <a:off x="723900" y="5324475"/>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3E6DF"/>
                </a:solidFill>
                <a:latin typeface="Arial"/>
                <a:ea typeface="Arial"/>
                <a:cs typeface="Arial"/>
              </a:defRPr>
            </a:pPr>
            <a:r>
              <a:rPr sz="1950" b="0">
                <a:solidFill>
                  <a:srgbClr val="D3E6DF"/>
                </a:solidFill>
                <a:latin typeface="Arial"/>
                <a:ea typeface="Arial"/>
                <a:cs typeface="Arial"/>
              </a:rPr>
              <a:t>Research update for Holger and Roy</a:t>
            </a:r>
          </a:p>
        </p:txBody>
      </p:sp>
      <p:sp>
        <p:nvSpPr>
          <p:cNvPr id="5" name="">
            <a:extLst xmlns:a="http://schemas.openxmlformats.org/drawingml/2006/main">
              <a:ext uri="{FF2B5EF4-FFF2-40B4-BE49-F238E27FC236}">
                <a16:creationId xmlns:a16="http://schemas.microsoft.com/office/drawing/2014/main" id="{2D697F86-B6ED-43C8-B2AE-DCE2F5AA4223}"/>
              </a:ext>
            </a:extLst>
          </p:cNvPr>
          <p:cNvSpPr>
            <a:spLocks xmlns:a="http://schemas.openxmlformats.org/drawingml/2006/main" noGrp="1"/>
          </p:cNvSpPr>
          <p:nvPr/>
        </p:nvSpPr>
        <p:spPr>
          <a:xfrm xmlns:a="http://schemas.openxmlformats.org/drawingml/2006/main">
            <a:off x="723900" y="5857875"/>
            <a:ext cx="1019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B7CDC6"/>
                </a:solidFill>
                <a:latin typeface="Arial"/>
                <a:ea typeface="Arial"/>
                <a:cs typeface="Arial"/>
              </a:defRPr>
            </a:pPr>
            <a:r>
              <a:rPr sz="1575" b="0">
                <a:solidFill>
                  <a:srgbClr val="B7CDC6"/>
                </a:solidFill>
                <a:latin typeface="Arial"/>
                <a:ea typeface="Arial"/>
                <a:cs typeface="Arial"/>
              </a:rPr>
              <a:t>Repository evidence reviewed 21 September 2026</a:t>
            </a:r>
          </a:p>
        </p:txBody>
      </p:sp>
    </p:spTree>
    <p:extLst>
      <p:ext uri="{BB962C8B-B14F-4D97-AF65-F5344CB8AC3E}">
        <p14:creationId xmlns:p14="http://schemas.microsoft.com/office/powerpoint/2010/main" val="2120464736"/>
      </p:ext>
    </p:extLst>
  </p:cSld>
</p:sld>
</file>

<file path=ppt/slides/slide2.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280B696-44AB-498B-80EE-96F7E2599612}"/>
              </a:ext>
            </a:extLst>
          </p:cNvPr>
          <p:cNvSpPr>
            <a:spLocks xmlns:a="http://schemas.openxmlformats.org/drawingml/2006/main" noGrp="1"/>
          </p:cNvSpPr>
          <p:nvPr/>
        </p:nvSpPr>
        <p:spPr>
          <a:xfrm xmlns:a="http://schemas.openxmlformats.org/drawingml/2006/main">
            <a:off x="590550" y="400050"/>
            <a:ext cx="11010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33C"/>
                </a:solidFill>
                <a:latin typeface="Arial"/>
                <a:ea typeface="Arial"/>
                <a:cs typeface="Arial"/>
              </a:defRPr>
            </a:pPr>
            <a:r>
              <a:rPr sz="3300" b="1">
                <a:solidFill>
                  <a:srgbClr val="18333C"/>
                </a:solidFill>
                <a:latin typeface="Arial"/>
                <a:ea typeface="Arial"/>
                <a:cs typeface="Arial"/>
              </a:rPr>
              <a:t>Electronic workflow completed</a:t>
            </a:r>
          </a:p>
        </p:txBody>
      </p:sp>
      <p:sp>
        <p:nvSpPr>
          <p:cNvPr id="2" name="">
            <a:extLst xmlns:a="http://schemas.openxmlformats.org/drawingml/2006/main">
              <a:ext uri="{FF2B5EF4-FFF2-40B4-BE49-F238E27FC236}">
                <a16:creationId xmlns:a16="http://schemas.microsoft.com/office/drawing/2014/main" id="{817B6AAF-073E-4192-B341-08D3392742BA}"/>
              </a:ext>
            </a:extLst>
          </p:cNvPr>
          <p:cNvSpPr>
            <a:spLocks xmlns:a="http://schemas.openxmlformats.org/drawingml/2006/main" noGrp="1"/>
          </p:cNvSpPr>
          <p:nvPr/>
        </p:nvSpPr>
        <p:spPr>
          <a:xfrm xmlns:a="http://schemas.openxmlformats.org/drawingml/2006/main">
            <a:off x="609600" y="116205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B71"/>
                </a:solidFill>
                <a:latin typeface="Arial"/>
                <a:ea typeface="Arial"/>
                <a:cs typeface="Arial"/>
              </a:defRPr>
            </a:pPr>
            <a:r>
              <a:rPr sz="1725" b="0">
                <a:solidFill>
                  <a:srgbClr val="596B71"/>
                </a:solidFill>
                <a:latin typeface="Arial"/>
                <a:ea typeface="Arial"/>
                <a:cs typeface="Arial"/>
              </a:rPr>
              <a:t>Material-specific convergence tests, relaxation, SCF/NSCF and BoltzTraP2</a:t>
            </a:r>
          </a:p>
        </p:txBody>
      </p:sp>
      <p:sp>
        <p:nvSpPr>
          <p:cNvPr id="3" name="">
            <a:extLst xmlns:a="http://schemas.openxmlformats.org/drawingml/2006/main">
              <a:ext uri="{FF2B5EF4-FFF2-40B4-BE49-F238E27FC236}">
                <a16:creationId xmlns:a16="http://schemas.microsoft.com/office/drawing/2014/main" id="{49876506-CF4D-40B1-A962-902A645BF48F}"/>
              </a:ext>
            </a:extLst>
          </p:cNvPr>
          <p:cNvSpPr>
            <a:spLocks xmlns:a="http://schemas.openxmlformats.org/drawingml/2006/main" noGrp="1"/>
          </p:cNvSpPr>
          <p:nvPr/>
        </p:nvSpPr>
        <p:spPr>
          <a:xfrm xmlns:a="http://schemas.openxmlformats.org/drawingml/2006/main">
            <a:off x="1104900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B71"/>
                </a:solidFill>
                <a:latin typeface="Arial"/>
                <a:ea typeface="Arial"/>
                <a:cs typeface="Arial"/>
              </a:defRPr>
            </a:pPr>
            <a:r>
              <a:rPr sz="1275" b="0">
                <a:solidFill>
                  <a:srgbClr val="596B71"/>
                </a:solidFill>
                <a:latin typeface="Arial"/>
                <a:ea typeface="Arial"/>
                <a:cs typeface="Arial"/>
              </a:rPr>
              <a:t>02</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b36265650754544"/>
          <a:stretch xmlns:a="http://schemas.openxmlformats.org/drawingml/2006/main"/>
        </p:blipFill>
        <p:spPr>
          <a:xfrm xmlns:a="http://schemas.openxmlformats.org/drawingml/2006/main">
            <a:off x="571500" y="2340119"/>
            <a:ext cx="7143750" cy="2987386"/>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7E3FB59-699C-4AA6-8B38-08F2179E6851}"/>
              </a:ext>
            </a:extLst>
          </p:cNvPr>
          <p:cNvSpPr>
            <a:spLocks xmlns:a="http://schemas.openxmlformats.org/drawingml/2006/main" noGrp="1"/>
          </p:cNvSpPr>
          <p:nvPr/>
        </p:nvSpPr>
        <p:spPr>
          <a:xfrm xmlns:a="http://schemas.openxmlformats.org/drawingml/2006/main">
            <a:off x="8153400" y="21336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B"/>
                </a:solidFill>
                <a:latin typeface="Arial"/>
                <a:ea typeface="Arial"/>
                <a:cs typeface="Arial"/>
              </a:defRPr>
            </a:pPr>
            <a:r>
              <a:rPr sz="2250" b="1">
                <a:solidFill>
                  <a:srgbClr val="007F7B"/>
                </a:solidFill>
                <a:latin typeface="Arial"/>
                <a:ea typeface="Arial"/>
                <a:cs typeface="Arial"/>
              </a:rPr>
              <a:t>An existing validation example</a:t>
            </a:r>
          </a:p>
        </p:txBody>
      </p:sp>
      <p:sp>
        <p:nvSpPr>
          <p:cNvPr id="6" name="">
            <a:extLst xmlns:a="http://schemas.openxmlformats.org/drawingml/2006/main">
              <a:ext uri="{FF2B5EF4-FFF2-40B4-BE49-F238E27FC236}">
                <a16:creationId xmlns:a16="http://schemas.microsoft.com/office/drawing/2014/main" id="{8E12C4AB-373F-45D5-AE54-7CE795EE013B}"/>
              </a:ext>
            </a:extLst>
          </p:cNvPr>
          <p:cNvSpPr>
            <a:spLocks xmlns:a="http://schemas.openxmlformats.org/drawingml/2006/main" noGrp="1"/>
          </p:cNvSpPr>
          <p:nvPr/>
        </p:nvSpPr>
        <p:spPr>
          <a:xfrm xmlns:a="http://schemas.openxmlformats.org/drawingml/2006/main">
            <a:off x="8153400" y="3009900"/>
            <a:ext cx="3238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33C"/>
                </a:solidFill>
                <a:latin typeface="Arial"/>
                <a:ea typeface="Arial"/>
                <a:cs typeface="Arial"/>
              </a:defRPr>
            </a:pPr>
            <a:r>
              <a:rPr sz="1950" b="0">
                <a:solidFill>
                  <a:srgbClr val="18333C"/>
                </a:solidFill>
                <a:latin typeface="Arial"/>
                <a:ea typeface="Arial"/>
                <a:cs typeface="Arial"/>
              </a:rPr>
              <a:t>SrCu2SnS4</a:t>
            </a:r>
          </a:p>
          <a:p xmlns:a="http://schemas.openxmlformats.org/drawingml/2006/main">
            <a:pPr>
              <a:defRPr sz="1950" b="0">
                <a:solidFill>
                  <a:srgbClr val="18333C"/>
                </a:solidFill>
                <a:latin typeface="Arial"/>
                <a:ea typeface="Arial"/>
                <a:cs typeface="Arial"/>
              </a:defRPr>
            </a:pPr>
            <a:r>
              <a:rPr sz="1950" b="0">
                <a:solidFill>
                  <a:srgbClr val="18333C"/>
                </a:solidFill>
                <a:latin typeface="Arial"/>
                <a:ea typeface="Arial"/>
                <a:cs typeface="Arial"/>
              </a:rPr>
              <a:t>QE and interpolated DOS</a:t>
            </a:r>
          </a:p>
        </p:txBody>
      </p:sp>
      <p:sp>
        <p:nvSpPr>
          <p:cNvPr id="7" name="">
            <a:extLst xmlns:a="http://schemas.openxmlformats.org/drawingml/2006/main">
              <a:ext uri="{FF2B5EF4-FFF2-40B4-BE49-F238E27FC236}">
                <a16:creationId xmlns:a16="http://schemas.microsoft.com/office/drawing/2014/main" id="{87E2C7AB-B502-423E-B6BA-230082E71148}"/>
              </a:ext>
            </a:extLst>
          </p:cNvPr>
          <p:cNvSpPr>
            <a:spLocks xmlns:a="http://schemas.openxmlformats.org/drawingml/2006/main" noGrp="1"/>
          </p:cNvSpPr>
          <p:nvPr/>
        </p:nvSpPr>
        <p:spPr>
          <a:xfrm xmlns:a="http://schemas.openxmlformats.org/drawingml/2006/main">
            <a:off x="8153400" y="4448175"/>
            <a:ext cx="323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1"/>
                </a:solidFill>
                <a:latin typeface="Arial"/>
                <a:ea typeface="Arial"/>
                <a:cs typeface="Arial"/>
              </a:defRPr>
            </a:pPr>
            <a:r>
              <a:rPr sz="1875" b="0">
                <a:solidFill>
                  <a:srgbClr val="596B71"/>
                </a:solidFill>
                <a:latin typeface="Arial"/>
                <a:ea typeface="Arial"/>
                <a:cs typeface="Arial"/>
              </a:rPr>
              <a:t>Transport-property convergence</a:t>
            </a:r>
          </a:p>
          <a:p xmlns:a="http://schemas.openxmlformats.org/drawingml/2006/main">
            <a:pPr>
              <a:defRPr sz="1875" b="0">
                <a:solidFill>
                  <a:srgbClr val="596B71"/>
                </a:solidFill>
                <a:latin typeface="Arial"/>
                <a:ea typeface="Arial"/>
                <a:cs typeface="Arial"/>
              </a:defRPr>
            </a:pPr>
            <a:r>
              <a:rPr sz="1875" b="0">
                <a:solidFill>
                  <a:srgbClr val="596B71"/>
                </a:solidFill>
                <a:latin typeface="Arial"/>
                <a:ea typeface="Arial"/>
                <a:cs typeface="Arial"/>
              </a:rPr>
              <a:t>on denser k meshes remains open.</a:t>
            </a:r>
          </a:p>
        </p:txBody>
      </p:sp>
    </p:spTree>
    <p:extLst>
      <p:ext uri="{BB962C8B-B14F-4D97-AF65-F5344CB8AC3E}">
        <p14:creationId xmlns:p14="http://schemas.microsoft.com/office/powerpoint/2010/main" val="398736905"/>
      </p:ext>
    </p:extLst>
  </p:cSld>
</p:sld>
</file>

<file path=ppt/slides/slide3.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29FD80-2DF2-4F17-ABB1-6880E71F5F6D}"/>
              </a:ext>
            </a:extLst>
          </p:cNvPr>
          <p:cNvSpPr>
            <a:spLocks xmlns:a="http://schemas.openxmlformats.org/drawingml/2006/main" noGrp="1"/>
          </p:cNvSpPr>
          <p:nvPr/>
        </p:nvSpPr>
        <p:spPr>
          <a:xfrm xmlns:a="http://schemas.openxmlformats.org/drawingml/2006/main">
            <a:off x="590550" y="400050"/>
            <a:ext cx="11010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33C"/>
                </a:solidFill>
                <a:latin typeface="Arial"/>
                <a:ea typeface="Arial"/>
                <a:cs typeface="Arial"/>
              </a:defRPr>
            </a:pPr>
            <a:r>
              <a:rPr sz="3300" b="1">
                <a:solidFill>
                  <a:srgbClr val="18333C"/>
                </a:solidFill>
                <a:latin typeface="Arial"/>
                <a:ea typeface="Arial"/>
                <a:cs typeface="Arial"/>
              </a:rPr>
              <a:t>Electronic screening at 300 K</a:t>
            </a:r>
          </a:p>
        </p:txBody>
      </p:sp>
      <p:sp>
        <p:nvSpPr>
          <p:cNvPr id="2" name="">
            <a:extLst xmlns:a="http://schemas.openxmlformats.org/drawingml/2006/main">
              <a:ext uri="{FF2B5EF4-FFF2-40B4-BE49-F238E27FC236}">
                <a16:creationId xmlns:a16="http://schemas.microsoft.com/office/drawing/2014/main" id="{C891474F-F491-4A36-A0D7-F4DEE4CF0E81}"/>
              </a:ext>
            </a:extLst>
          </p:cNvPr>
          <p:cNvSpPr>
            <a:spLocks xmlns:a="http://schemas.openxmlformats.org/drawingml/2006/main" noGrp="1"/>
          </p:cNvSpPr>
          <p:nvPr/>
        </p:nvSpPr>
        <p:spPr>
          <a:xfrm xmlns:a="http://schemas.openxmlformats.org/drawingml/2006/main">
            <a:off x="609600" y="116205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B71"/>
                </a:solidFill>
                <a:latin typeface="Arial"/>
                <a:ea typeface="Arial"/>
                <a:cs typeface="Arial"/>
              </a:defRPr>
            </a:pPr>
            <a:r>
              <a:rPr sz="1725" b="0">
                <a:solidFill>
                  <a:srgbClr val="596B71"/>
                </a:solidFill>
                <a:latin typeface="Arial"/>
                <a:ea typeface="Arial"/>
                <a:cs typeface="Arial"/>
              </a:rPr>
              <a:t>Best PF/τ on the sampled carrier-density grid</a:t>
            </a:r>
          </a:p>
        </p:txBody>
      </p:sp>
      <p:sp>
        <p:nvSpPr>
          <p:cNvPr id="3" name="">
            <a:extLst xmlns:a="http://schemas.openxmlformats.org/drawingml/2006/main">
              <a:ext uri="{FF2B5EF4-FFF2-40B4-BE49-F238E27FC236}">
                <a16:creationId xmlns:a16="http://schemas.microsoft.com/office/drawing/2014/main" id="{AC3ADE3A-1522-45F4-AF25-0654BD6ECF8C}"/>
              </a:ext>
            </a:extLst>
          </p:cNvPr>
          <p:cNvSpPr>
            <a:spLocks xmlns:a="http://schemas.openxmlformats.org/drawingml/2006/main" noGrp="1"/>
          </p:cNvSpPr>
          <p:nvPr/>
        </p:nvSpPr>
        <p:spPr>
          <a:xfrm xmlns:a="http://schemas.openxmlformats.org/drawingml/2006/main">
            <a:off x="1104900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B71"/>
                </a:solidFill>
                <a:latin typeface="Arial"/>
                <a:ea typeface="Arial"/>
                <a:cs typeface="Arial"/>
              </a:defRPr>
            </a:pPr>
            <a:r>
              <a:rPr sz="1275" b="0">
                <a:solidFill>
                  <a:srgbClr val="596B71"/>
                </a:solidFill>
                <a:latin typeface="Arial"/>
                <a:ea typeface="Arial"/>
                <a:cs typeface="Arial"/>
              </a:rPr>
              <a:t>03</a:t>
            </a:r>
          </a:p>
        </p:txBody>
      </p:sp>
      <p:graphicFrame>
        <p:nvGraphicFramePr>
          <p:cNvPr id="11" name="Chart"/>
          <p:cNvGraphicFramePr/>
          <p:nvPr/>
        </p:nvGraphicFramePr>
        <p:xfrm>
          <a:off xmlns:a="http://schemas.openxmlformats.org/drawingml/2006/main" x="647700" y="1943100"/>
          <a:ext xmlns:a="http://schemas.openxmlformats.org/drawingml/2006/main" cx="7191375" cy="3829050"/>
        </p:xfrm>
        <a:graphic xmlns:a="http://schemas.openxmlformats.org/drawingml/2006/main">
          <a:graphicData uri="http://schemas.openxmlformats.org/drawingml/2006/chart">
            <c:chart xmlns:r="http://schemas.openxmlformats.org/officeDocument/2006/relationships" xmlns:c="http://schemas.openxmlformats.org/drawingml/2006/chart" r:id="Rbbaf17f1f8af422f"/>
          </a:graphicData>
        </a:graphic>
      </p:graphicFrame>
      <p:sp>
        <p:nvSpPr>
          <p:cNvPr id="5" name="">
            <a:extLst xmlns:a="http://schemas.openxmlformats.org/drawingml/2006/main">
              <a:ext uri="{FF2B5EF4-FFF2-40B4-BE49-F238E27FC236}">
                <a16:creationId xmlns:a16="http://schemas.microsoft.com/office/drawing/2014/main" id="{7A050F6F-C5FC-4B4F-B97F-A8B8B6EE4422}"/>
              </a:ext>
            </a:extLst>
          </p:cNvPr>
          <p:cNvSpPr>
            <a:spLocks xmlns:a="http://schemas.openxmlformats.org/drawingml/2006/main" noGrp="1"/>
          </p:cNvSpPr>
          <p:nvPr/>
        </p:nvSpPr>
        <p:spPr>
          <a:xfrm xmlns:a="http://schemas.openxmlformats.org/drawingml/2006/main">
            <a:off x="8229600" y="2305050"/>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B"/>
                </a:solidFill>
                <a:latin typeface="Arial"/>
                <a:ea typeface="Arial"/>
                <a:cs typeface="Arial"/>
              </a:defRPr>
            </a:pPr>
            <a:r>
              <a:rPr sz="2250" b="1">
                <a:solidFill>
                  <a:srgbClr val="007F7B"/>
                </a:solidFill>
                <a:latin typeface="Arial"/>
                <a:ea typeface="Arial"/>
                <a:cs typeface="Arial"/>
              </a:rPr>
              <a:t>Rb2Cu2SnS4</a:t>
            </a:r>
          </a:p>
        </p:txBody>
      </p:sp>
      <p:sp>
        <p:nvSpPr>
          <p:cNvPr id="6" name="">
            <a:extLst xmlns:a="http://schemas.openxmlformats.org/drawingml/2006/main">
              <a:ext uri="{FF2B5EF4-FFF2-40B4-BE49-F238E27FC236}">
                <a16:creationId xmlns:a16="http://schemas.microsoft.com/office/drawing/2014/main" id="{FD942B5F-89AF-4443-9309-B80FC822E364}"/>
              </a:ext>
            </a:extLst>
          </p:cNvPr>
          <p:cNvSpPr>
            <a:spLocks xmlns:a="http://schemas.openxmlformats.org/drawingml/2006/main" noGrp="1"/>
          </p:cNvSpPr>
          <p:nvPr/>
        </p:nvSpPr>
        <p:spPr>
          <a:xfrm xmlns:a="http://schemas.openxmlformats.org/drawingml/2006/main">
            <a:off x="8229600" y="2990850"/>
            <a:ext cx="3190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33C"/>
                </a:solidFill>
                <a:latin typeface="Arial"/>
                <a:ea typeface="Arial"/>
                <a:cs typeface="Arial"/>
              </a:defRPr>
            </a:pPr>
            <a:r>
              <a:rPr sz="2100" b="0">
                <a:solidFill>
                  <a:srgbClr val="18333C"/>
                </a:solidFill>
                <a:latin typeface="Arial"/>
                <a:ea typeface="Arial"/>
                <a:cs typeface="Arial"/>
              </a:rPr>
              <a:t>The p-type first pass is a useful</a:t>
            </a:r>
          </a:p>
          <a:p xmlns:a="http://schemas.openxmlformats.org/drawingml/2006/main">
            <a:pPr>
              <a:defRPr sz="2100" b="0">
                <a:solidFill>
                  <a:srgbClr val="18333C"/>
                </a:solidFill>
                <a:latin typeface="Arial"/>
                <a:ea typeface="Arial"/>
                <a:cs typeface="Arial"/>
              </a:defRPr>
            </a:pPr>
            <a:r>
              <a:rPr sz="2100" b="0">
                <a:solidFill>
                  <a:srgbClr val="18333C"/>
                </a:solidFill>
                <a:latin typeface="Arial"/>
                <a:ea typeface="Arial"/>
                <a:cs typeface="Arial"/>
              </a:rPr>
              <a:t>follow-up candidate.</a:t>
            </a:r>
          </a:p>
        </p:txBody>
      </p:sp>
      <p:sp>
        <p:nvSpPr>
          <p:cNvPr id="7" name="">
            <a:extLst xmlns:a="http://schemas.openxmlformats.org/drawingml/2006/main">
              <a:ext uri="{FF2B5EF4-FFF2-40B4-BE49-F238E27FC236}">
                <a16:creationId xmlns:a16="http://schemas.microsoft.com/office/drawing/2014/main" id="{0A6B016D-2C18-46FF-A3FF-5B3AA82562F8}"/>
              </a:ext>
            </a:extLst>
          </p:cNvPr>
          <p:cNvSpPr>
            <a:spLocks xmlns:a="http://schemas.openxmlformats.org/drawingml/2006/main" noGrp="1"/>
          </p:cNvSpPr>
          <p:nvPr/>
        </p:nvSpPr>
        <p:spPr>
          <a:xfrm xmlns:a="http://schemas.openxmlformats.org/drawingml/2006/main">
            <a:off x="8229600" y="463867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1"/>
                </a:solidFill>
                <a:latin typeface="Arial"/>
                <a:ea typeface="Arial"/>
                <a:cs typeface="Arial"/>
              </a:defRPr>
            </a:pPr>
            <a:r>
              <a:rPr sz="1875" b="0">
                <a:solidFill>
                  <a:srgbClr val="596B71"/>
                </a:solidFill>
                <a:latin typeface="Arial"/>
                <a:ea typeface="Arial"/>
                <a:cs typeface="Arial"/>
              </a:rPr>
              <a:t>PF/τ is not absolute PF.</a:t>
            </a:r>
          </a:p>
          <a:p xmlns:a="http://schemas.openxmlformats.org/drawingml/2006/main">
            <a:pPr>
              <a:defRPr sz="1875" b="0">
                <a:solidFill>
                  <a:srgbClr val="596B71"/>
                </a:solidFill>
                <a:latin typeface="Arial"/>
                <a:ea typeface="Arial"/>
                <a:cs typeface="Arial"/>
              </a:defRPr>
            </a:pPr>
            <a:r>
              <a:rPr sz="1875" b="0">
                <a:solidFill>
                  <a:srgbClr val="596B71"/>
                </a:solidFill>
                <a:latin typeface="Arial"/>
                <a:ea typeface="Arial"/>
                <a:cs typeface="Arial"/>
              </a:rPr>
              <a:t>Electronic-only zT is not full zT.</a:t>
            </a:r>
          </a:p>
        </p:txBody>
      </p:sp>
    </p:spTree>
    <p:extLst>
      <p:ext uri="{BB962C8B-B14F-4D97-AF65-F5344CB8AC3E}">
        <p14:creationId xmlns:p14="http://schemas.microsoft.com/office/powerpoint/2010/main" val="517879022"/>
      </p:ext>
    </p:extLst>
  </p:cSld>
</p:sld>
</file>

<file path=ppt/slides/slide4.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3538A91-CA9B-4289-93D6-22D36C4D463F}"/>
              </a:ext>
            </a:extLst>
          </p:cNvPr>
          <p:cNvSpPr>
            <a:spLocks xmlns:a="http://schemas.openxmlformats.org/drawingml/2006/main" noGrp="1"/>
          </p:cNvSpPr>
          <p:nvPr/>
        </p:nvSpPr>
        <p:spPr>
          <a:xfrm xmlns:a="http://schemas.openxmlformats.org/drawingml/2006/main">
            <a:off x="590550" y="400050"/>
            <a:ext cx="11010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33C"/>
                </a:solidFill>
                <a:latin typeface="Arial"/>
                <a:ea typeface="Arial"/>
                <a:cs typeface="Arial"/>
              </a:defRPr>
            </a:pPr>
            <a:r>
              <a:rPr sz="3300" b="1">
                <a:solidFill>
                  <a:srgbClr val="18333C"/>
                </a:solidFill>
                <a:latin typeface="Arial"/>
                <a:ea typeface="Arial"/>
                <a:cs typeface="Arial"/>
              </a:rPr>
              <a:t>Phonon evidence and acceptance</a:t>
            </a:r>
          </a:p>
        </p:txBody>
      </p:sp>
      <p:sp>
        <p:nvSpPr>
          <p:cNvPr id="2" name="">
            <a:extLst xmlns:a="http://schemas.openxmlformats.org/drawingml/2006/main">
              <a:ext uri="{FF2B5EF4-FFF2-40B4-BE49-F238E27FC236}">
                <a16:creationId xmlns:a16="http://schemas.microsoft.com/office/drawing/2014/main" id="{A13A86DC-3886-41BC-B04F-FEFB81BE5A35}"/>
              </a:ext>
            </a:extLst>
          </p:cNvPr>
          <p:cNvSpPr>
            <a:spLocks xmlns:a="http://schemas.openxmlformats.org/drawingml/2006/main" noGrp="1"/>
          </p:cNvSpPr>
          <p:nvPr/>
        </p:nvSpPr>
        <p:spPr>
          <a:xfrm xmlns:a="http://schemas.openxmlformats.org/drawingml/2006/main">
            <a:off x="609600" y="116205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B71"/>
                </a:solidFill>
                <a:latin typeface="Arial"/>
                <a:ea typeface="Arial"/>
                <a:cs typeface="Arial"/>
              </a:defRPr>
            </a:pPr>
            <a:r>
              <a:rPr sz="1725" b="0">
                <a:solidFill>
                  <a:srgbClr val="596B71"/>
                </a:solidFill>
                <a:latin typeface="Arial"/>
                <a:ea typeface="Arial"/>
                <a:cs typeface="Arial"/>
              </a:rPr>
              <a:t>Execution, file integrity and scientific convergence are separate checks</a:t>
            </a:r>
          </a:p>
        </p:txBody>
      </p:sp>
      <p:sp>
        <p:nvSpPr>
          <p:cNvPr id="3" name="">
            <a:extLst xmlns:a="http://schemas.openxmlformats.org/drawingml/2006/main">
              <a:ext uri="{FF2B5EF4-FFF2-40B4-BE49-F238E27FC236}">
                <a16:creationId xmlns:a16="http://schemas.microsoft.com/office/drawing/2014/main" id="{587685D3-EFE7-47F9-9A2C-B84BAB632A23}"/>
              </a:ext>
            </a:extLst>
          </p:cNvPr>
          <p:cNvSpPr>
            <a:spLocks xmlns:a="http://schemas.openxmlformats.org/drawingml/2006/main" noGrp="1"/>
          </p:cNvSpPr>
          <p:nvPr/>
        </p:nvSpPr>
        <p:spPr>
          <a:xfrm xmlns:a="http://schemas.openxmlformats.org/drawingml/2006/main">
            <a:off x="1104900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B71"/>
                </a:solidFill>
                <a:latin typeface="Arial"/>
                <a:ea typeface="Arial"/>
                <a:cs typeface="Arial"/>
              </a:defRPr>
            </a:pPr>
            <a:r>
              <a:rPr sz="1275" b="0">
                <a:solidFill>
                  <a:srgbClr val="596B71"/>
                </a:solidFill>
                <a:latin typeface="Arial"/>
                <a:ea typeface="Arial"/>
                <a:cs typeface="Arial"/>
              </a:rPr>
              <a:t>04</a:t>
            </a:r>
          </a:p>
        </p:txBody>
      </p:sp>
      <p:graphicFrame>
        <p:nvGraphicFramePr>
          <p:cNvPr id="9" name=""/>
          <p:cNvGraphicFramePr/>
          <p:nvPr/>
        </p:nvGraphicFramePr>
        <p:xfrm>
          <a:off xmlns:a="http://schemas.openxmlformats.org/drawingml/2006/main" x="609600" y="1905000"/>
          <a:ext xmlns:a="http://schemas.openxmlformats.org/drawingml/2006/main" cx="10953750" cy="3381375"/>
        </p:xfrm>
        <a:graphic xmlns:a="http://schemas.openxmlformats.org/drawingml/2006/main">
          <a:graphicData uri="http://schemas.openxmlformats.org/drawingml/2006/table">
            <a:tbl>
              <a:tblPr/>
              <a:tblGrid>
                <a:gridCol w="2314575"/>
                <a:gridCol w="3667125"/>
                <a:gridCol w="4972050"/>
              </a:tblGrid>
              <a:tr h="845344">
                <a:tc>
                  <a:txBody>
                    <a:bodyPr/>
                    <a:lstStyle/>
                    <a:p>
                      <a:r>
                        <a:rPr sz="1875" b="1">
                          <a:solidFill>
                            <a:srgbClr val="FFFFFF"/>
                          </a:solidFill>
                          <a:latin typeface="Arial"/>
                          <a:ea typeface="Arial"/>
                          <a:cs typeface="Arial"/>
                        </a:rPr>
                        <a:t>Material</a:t>
                      </a:r>
                    </a:p>
                  </a:txBody>
                  <a:tcPr marL="91440" marR="91440" marT="45720" marB="45720">
                    <a:solidFill>
                      <a:srgbClr val="18333C"/>
                    </a:solidFill>
                  </a:tcPr>
                </a:tc>
                <a:tc>
                  <a:txBody>
                    <a:bodyPr/>
                    <a:lstStyle/>
                    <a:p>
                      <a:r>
                        <a:rPr sz="1875" b="1">
                          <a:solidFill>
                            <a:srgbClr val="FFFFFF"/>
                          </a:solidFill>
                          <a:latin typeface="Arial"/>
                          <a:ea typeface="Arial"/>
                          <a:cs typeface="Arial"/>
                        </a:rPr>
                        <a:t>Forces and FCs</a:t>
                      </a:r>
                    </a:p>
                  </a:txBody>
                  <a:tcPr marL="91440" marR="91440" marT="45720" marB="45720">
                    <a:solidFill>
                      <a:srgbClr val="18333C"/>
                    </a:solidFill>
                  </a:tcPr>
                </a:tc>
                <a:tc>
                  <a:txBody>
                    <a:bodyPr/>
                    <a:lstStyle/>
                    <a:p>
                      <a:r>
                        <a:rPr sz="1875" b="1">
                          <a:solidFill>
                            <a:srgbClr val="FFFFFF"/>
                          </a:solidFill>
                          <a:latin typeface="Arial"/>
                          <a:ea typeface="Arial"/>
                          <a:cs typeface="Arial"/>
                        </a:rPr>
                        <a:t>Current limitation</a:t>
                      </a:r>
                    </a:p>
                  </a:txBody>
                  <a:tcPr marL="91440" marR="91440" marT="45720" marB="45720">
                    <a:solidFill>
                      <a:srgbClr val="18333C"/>
                    </a:solidFill>
                  </a:tcPr>
                </a:tc>
              </a:tr>
              <a:tr h="845344">
                <a:tc>
                  <a:txBody>
                    <a:bodyPr/>
                    <a:lstStyle/>
                    <a:p>
                      <a:r>
                        <a:rPr sz="1875" b="0">
                          <a:solidFill>
                            <a:srgbClr val="18333C"/>
                          </a:solidFill>
                          <a:latin typeface="Arial"/>
                          <a:ea typeface="Arial"/>
                          <a:cs typeface="Arial"/>
                        </a:rPr>
                        <a:t>SrCu2SnS4</a:t>
                      </a:r>
                    </a:p>
                  </a:txBody>
                  <a:tcPr marL="91440" marR="91440" marT="45720" marB="45720">
                    <a:solidFill>
                      <a:srgbClr val="FFFFFF"/>
                    </a:solidFill>
                  </a:tcPr>
                </a:tc>
                <a:tc>
                  <a:txBody>
                    <a:bodyPr/>
                    <a:lstStyle/>
                    <a:p>
                      <a:r>
                        <a:rPr sz="1875" b="0">
                          <a:solidFill>
                            <a:srgbClr val="18333C"/>
                          </a:solidFill>
                          <a:latin typeface="Arial"/>
                          <a:ea typeface="Arial"/>
                          <a:cs typeface="Arial"/>
                        </a:rPr>
                        <a:t>Historical dataset</a:t>
                      </a:r>
                    </a:p>
                    <a:p>
                      <a:r>
                        <a:rPr sz="1875" b="0">
                          <a:solidFill>
                            <a:srgbClr val="18333C"/>
                          </a:solidFill>
                          <a:latin typeface="Arial"/>
                          <a:ea typeface="Arial"/>
                          <a:cs typeface="Arial"/>
                        </a:rPr>
                        <a:t>v2 preparation only</a:t>
                      </a:r>
                    </a:p>
                  </a:txBody>
                  <a:tcPr marL="91440" marR="91440" marT="45720" marB="45720">
                    <a:solidFill>
                      <a:srgbClr val="FFFFFF"/>
                    </a:solidFill>
                  </a:tcPr>
                </a:tc>
                <a:tc>
                  <a:txBody>
                    <a:bodyPr/>
                    <a:lstStyle/>
                    <a:p>
                      <a:r>
                        <a:rPr sz="1875" b="0">
                          <a:solidFill>
                            <a:srgbClr val="18333C"/>
                          </a:solidFill>
                          <a:latin typeface="Arial"/>
                          <a:ea typeface="Arial"/>
                          <a:cs typeface="Arial"/>
                        </a:rPr>
                        <a:t>Units, mixed settings,</a:t>
                      </a:r>
                    </a:p>
                    <a:p>
                      <a:r>
                        <a:rPr sz="1875" b="0">
                          <a:solidFill>
                            <a:srgbClr val="18333C"/>
                          </a:solidFill>
                          <a:latin typeface="Arial"/>
                          <a:ea typeface="Arial"/>
                          <a:cs typeface="Arial"/>
                        </a:rPr>
                        <a:t>terminal health and mesh</a:t>
                      </a:r>
                    </a:p>
                  </a:txBody>
                  <a:tcPr marL="91440" marR="91440" marT="45720" marB="45720">
                    <a:solidFill>
                      <a:srgbClr val="FFFFFF"/>
                    </a:solidFill>
                  </a:tcPr>
                </a:tc>
              </a:tr>
              <a:tr h="845344">
                <a:tc>
                  <a:txBody>
                    <a:bodyPr/>
                    <a:lstStyle/>
                    <a:p>
                      <a:r>
                        <a:rPr sz="1875" b="0">
                          <a:solidFill>
                            <a:srgbClr val="18333C"/>
                          </a:solidFill>
                          <a:latin typeface="Arial"/>
                          <a:ea typeface="Arial"/>
                          <a:cs typeface="Arial"/>
                        </a:rPr>
                        <a:t>SrZrS3</a:t>
                      </a:r>
                    </a:p>
                  </a:txBody>
                  <a:tcPr marL="91440" marR="91440" marT="45720" marB="45720">
                    <a:solidFill>
                      <a:srgbClr val="F7F8F5"/>
                    </a:solidFill>
                  </a:tcPr>
                </a:tc>
                <a:tc>
                  <a:txBody>
                    <a:bodyPr/>
                    <a:lstStyle/>
                    <a:p>
                      <a:r>
                        <a:rPr sz="1875" b="0">
                          <a:solidFill>
                            <a:srgbClr val="18333C"/>
                          </a:solidFill>
                          <a:latin typeface="Arial"/>
                          <a:ea typeface="Arial"/>
                          <a:cs typeface="Arial"/>
                        </a:rPr>
                        <a:t>788 force records</a:t>
                      </a:r>
                    </a:p>
                    <a:p>
                      <a:r>
                        <a:rPr sz="1875" b="0">
                          <a:solidFill>
                            <a:srgbClr val="18333C"/>
                          </a:solidFill>
                          <a:latin typeface="Arial"/>
                          <a:ea typeface="Arial"/>
                          <a:cs typeface="Arial"/>
                        </a:rPr>
                        <a:t>FC2 / FC3 generated</a:t>
                      </a:r>
                    </a:p>
                  </a:txBody>
                  <a:tcPr marL="91440" marR="91440" marT="45720" marB="45720">
                    <a:solidFill>
                      <a:srgbClr val="F7F8F5"/>
                    </a:solidFill>
                  </a:tcPr>
                </a:tc>
                <a:tc>
                  <a:txBody>
                    <a:bodyPr/>
                    <a:lstStyle/>
                    <a:p>
                      <a:r>
                        <a:rPr sz="1875" b="0">
                          <a:solidFill>
                            <a:srgbClr val="18333C"/>
                          </a:solidFill>
                          <a:latin typeface="Arial"/>
                          <a:ea typeface="Arial"/>
                          <a:cs typeface="Arial"/>
                        </a:rPr>
                        <a:t>Sampled imaginary modes</a:t>
                      </a:r>
                    </a:p>
                    <a:p>
                      <a:r>
                        <a:rPr sz="1875" b="0">
                          <a:solidFill>
                            <a:srgbClr val="18333C"/>
                          </a:solidFill>
                          <a:latin typeface="Arial"/>
                          <a:ea typeface="Arial"/>
                          <a:cs typeface="Arial"/>
                        </a:rPr>
                        <a:t>κL rejected</a:t>
                      </a:r>
                    </a:p>
                  </a:txBody>
                  <a:tcPr marL="91440" marR="91440" marT="45720" marB="45720">
                    <a:solidFill>
                      <a:srgbClr val="F7F8F5"/>
                    </a:solidFill>
                  </a:tcPr>
                </a:tc>
              </a:tr>
              <a:tr h="845344">
                <a:tc>
                  <a:txBody>
                    <a:bodyPr/>
                    <a:lstStyle/>
                    <a:p>
                      <a:r>
                        <a:rPr sz="1875" b="0">
                          <a:solidFill>
                            <a:srgbClr val="18333C"/>
                          </a:solidFill>
                          <a:latin typeface="Arial"/>
                          <a:ea typeface="Arial"/>
                          <a:cs typeface="Arial"/>
                        </a:rPr>
                        <a:t>Rb2Cu2SnS4</a:t>
                      </a:r>
                    </a:p>
                  </a:txBody>
                  <a:tcPr marL="91440" marR="91440" marT="45720" marB="45720">
                    <a:solidFill>
                      <a:srgbClr val="FFFFFF"/>
                    </a:solidFill>
                  </a:tcPr>
                </a:tc>
                <a:tc>
                  <a:txBody>
                    <a:bodyPr/>
                    <a:lstStyle/>
                    <a:p>
                      <a:r>
                        <a:rPr sz="1875" b="0">
                          <a:solidFill>
                            <a:srgbClr val="18333C"/>
                          </a:solidFill>
                          <a:latin typeface="Arial"/>
                          <a:ea typeface="Arial"/>
                          <a:cs typeface="Arial"/>
                        </a:rPr>
                        <a:t>Recovery recorded</a:t>
                      </a:r>
                    </a:p>
                    <a:p>
                      <a:r>
                        <a:rPr sz="1875" b="0">
                          <a:solidFill>
                            <a:srgbClr val="18333C"/>
                          </a:solidFill>
                          <a:latin typeface="Arial"/>
                          <a:ea typeface="Arial"/>
                          <a:cs typeface="Arial"/>
                        </a:rPr>
                        <a:t>Limited FC audit passed</a:t>
                      </a:r>
                    </a:p>
                  </a:txBody>
                  <a:tcPr marL="91440" marR="91440" marT="45720" marB="45720">
                    <a:solidFill>
                      <a:srgbClr val="FFFFFF"/>
                    </a:solidFill>
                  </a:tcPr>
                </a:tc>
                <a:tc>
                  <a:txBody>
                    <a:bodyPr/>
                    <a:lstStyle/>
                    <a:p>
                      <a:r>
                        <a:rPr sz="1875" b="0">
                          <a:solidFill>
                            <a:srgbClr val="18333C"/>
                          </a:solidFill>
                          <a:latin typeface="Arial"/>
                          <a:ea typeface="Arial"/>
                          <a:cs typeface="Arial"/>
                        </a:rPr>
                        <a:t>Every tested mesh step fails</a:t>
                      </a:r>
                    </a:p>
                    <a:p>
                      <a:r>
                        <a:rPr sz="1875" b="0">
                          <a:solidFill>
                            <a:srgbClr val="18333C"/>
                          </a:solidFill>
                          <a:latin typeface="Arial"/>
                          <a:ea typeface="Arial"/>
                          <a:cs typeface="Arial"/>
                        </a:rPr>
                        <a:t>κL unaccepted</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2E9511E-300E-4061-B0D6-578A4380A0CC}"/>
              </a:ext>
            </a:extLst>
          </p:cNvPr>
          <p:cNvSpPr>
            <a:spLocks xmlns:a="http://schemas.openxmlformats.org/drawingml/2006/main" noGrp="1"/>
          </p:cNvSpPr>
          <p:nvPr/>
        </p:nvSpPr>
        <p:spPr>
          <a:xfrm xmlns:a="http://schemas.openxmlformats.org/drawingml/2006/main">
            <a:off x="638175" y="5695950"/>
            <a:ext cx="10839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AD4438"/>
                </a:solidFill>
                <a:latin typeface="Arial"/>
                <a:ea typeface="Arial"/>
                <a:cs typeface="Arial"/>
              </a:defRPr>
            </a:pPr>
            <a:r>
              <a:rPr sz="2175" b="1">
                <a:solidFill>
                  <a:srgbClr val="AD4438"/>
                </a:solidFill>
                <a:latin typeface="Arial"/>
                <a:ea typeface="Arial"/>
                <a:cs typeface="Arial"/>
              </a:rPr>
              <a:t>No accepted lattice thermal conductivity for any of the three materials</a:t>
            </a:r>
          </a:p>
        </p:txBody>
      </p:sp>
    </p:spTree>
    <p:extLst>
      <p:ext uri="{BB962C8B-B14F-4D97-AF65-F5344CB8AC3E}">
        <p14:creationId xmlns:p14="http://schemas.microsoft.com/office/powerpoint/2010/main" val="645223774"/>
      </p:ext>
    </p:extLst>
  </p:cSld>
</p:sld>
</file>

<file path=ppt/slides/slide5.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D2134C0-F429-4C96-8534-72B3ACAB2D6A}"/>
              </a:ext>
            </a:extLst>
          </p:cNvPr>
          <p:cNvSpPr>
            <a:spLocks xmlns:a="http://schemas.openxmlformats.org/drawingml/2006/main" noGrp="1"/>
          </p:cNvSpPr>
          <p:nvPr/>
        </p:nvSpPr>
        <p:spPr>
          <a:xfrm xmlns:a="http://schemas.openxmlformats.org/drawingml/2006/main">
            <a:off x="590550" y="400050"/>
            <a:ext cx="11010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33C"/>
                </a:solidFill>
                <a:latin typeface="Arial"/>
                <a:ea typeface="Arial"/>
                <a:cs typeface="Arial"/>
              </a:defRPr>
            </a:pPr>
            <a:r>
              <a:rPr sz="3300" b="1">
                <a:solidFill>
                  <a:srgbClr val="18333C"/>
                </a:solidFill>
                <a:latin typeface="Arial"/>
                <a:ea typeface="Arial"/>
                <a:cs typeface="Arial"/>
              </a:rPr>
              <a:t>SrCu2SnS4: a separate corrected campaign</a:t>
            </a:r>
          </a:p>
        </p:txBody>
      </p:sp>
      <p:sp>
        <p:nvSpPr>
          <p:cNvPr id="2" name="">
            <a:extLst xmlns:a="http://schemas.openxmlformats.org/drawingml/2006/main">
              <a:ext uri="{FF2B5EF4-FFF2-40B4-BE49-F238E27FC236}">
                <a16:creationId xmlns:a16="http://schemas.microsoft.com/office/drawing/2014/main" id="{BF914350-B298-43A5-91CA-F6AAF0E70B24}"/>
              </a:ext>
            </a:extLst>
          </p:cNvPr>
          <p:cNvSpPr>
            <a:spLocks xmlns:a="http://schemas.openxmlformats.org/drawingml/2006/main" noGrp="1"/>
          </p:cNvSpPr>
          <p:nvPr/>
        </p:nvSpPr>
        <p:spPr>
          <a:xfrm xmlns:a="http://schemas.openxmlformats.org/drawingml/2006/main">
            <a:off x="609600" y="116205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B71"/>
                </a:solidFill>
                <a:latin typeface="Arial"/>
                <a:ea typeface="Arial"/>
                <a:cs typeface="Arial"/>
              </a:defRPr>
            </a:pPr>
            <a:r>
              <a:rPr sz="1725" b="0">
                <a:solidFill>
                  <a:srgbClr val="596B71"/>
                </a:solidFill>
                <a:latin typeface="Arial"/>
                <a:ea typeface="Arial"/>
                <a:cs typeface="Arial"/>
              </a:rPr>
              <a:t>Correct units and consistent inputs are necessary preparation</a:t>
            </a:r>
          </a:p>
        </p:txBody>
      </p:sp>
      <p:sp>
        <p:nvSpPr>
          <p:cNvPr id="3" name="">
            <a:extLst xmlns:a="http://schemas.openxmlformats.org/drawingml/2006/main">
              <a:ext uri="{FF2B5EF4-FFF2-40B4-BE49-F238E27FC236}">
                <a16:creationId xmlns:a16="http://schemas.microsoft.com/office/drawing/2014/main" id="{E12EFFF4-2C3C-408E-8F51-2DF016B0179E}"/>
              </a:ext>
            </a:extLst>
          </p:cNvPr>
          <p:cNvSpPr>
            <a:spLocks xmlns:a="http://schemas.openxmlformats.org/drawingml/2006/main" noGrp="1"/>
          </p:cNvSpPr>
          <p:nvPr/>
        </p:nvSpPr>
        <p:spPr>
          <a:xfrm xmlns:a="http://schemas.openxmlformats.org/drawingml/2006/main">
            <a:off x="1104900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B71"/>
                </a:solidFill>
                <a:latin typeface="Arial"/>
                <a:ea typeface="Arial"/>
                <a:cs typeface="Arial"/>
              </a:defRPr>
            </a:pPr>
            <a:r>
              <a:rPr sz="1275" b="0">
                <a:solidFill>
                  <a:srgbClr val="596B71"/>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7983C79D-038D-49DB-8D7E-112FA1AE5CB4}"/>
              </a:ext>
            </a:extLst>
          </p:cNvPr>
          <p:cNvSpPr>
            <a:spLocks xmlns:a="http://schemas.openxmlformats.org/drawingml/2006/main" noGrp="1"/>
          </p:cNvSpPr>
          <p:nvPr/>
        </p:nvSpPr>
        <p:spPr>
          <a:xfrm xmlns:a="http://schemas.openxmlformats.org/drawingml/2006/main">
            <a:off x="647700" y="200977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96B71"/>
                </a:solidFill>
                <a:latin typeface="Arial"/>
                <a:ea typeface="Arial"/>
                <a:cs typeface="Arial"/>
              </a:defRPr>
            </a:pPr>
            <a:r>
              <a:rPr sz="2100" b="0">
                <a:solidFill>
                  <a:srgbClr val="596B71"/>
                </a:solidFill>
                <a:latin typeface="Arial"/>
                <a:ea typeface="Arial"/>
                <a:cs typeface="Arial"/>
              </a:rPr>
              <a:t>Historical cutoff</a:t>
            </a:r>
          </a:p>
        </p:txBody>
      </p:sp>
      <p:sp>
        <p:nvSpPr>
          <p:cNvPr id="5" name="">
            <a:extLst xmlns:a="http://schemas.openxmlformats.org/drawingml/2006/main">
              <a:ext uri="{FF2B5EF4-FFF2-40B4-BE49-F238E27FC236}">
                <a16:creationId xmlns:a16="http://schemas.microsoft.com/office/drawing/2014/main" id="{A9726E74-FC47-4210-9631-344E8DB63DF1}"/>
              </a:ext>
            </a:extLst>
          </p:cNvPr>
          <p:cNvSpPr>
            <a:spLocks xmlns:a="http://schemas.openxmlformats.org/drawingml/2006/main" noGrp="1"/>
          </p:cNvSpPr>
          <p:nvPr/>
        </p:nvSpPr>
        <p:spPr>
          <a:xfrm xmlns:a="http://schemas.openxmlformats.org/drawingml/2006/main">
            <a:off x="647700" y="264795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AD4438"/>
                </a:solidFill>
                <a:latin typeface="Arial"/>
                <a:ea typeface="Arial"/>
                <a:cs typeface="Arial"/>
              </a:defRPr>
            </a:pPr>
            <a:r>
              <a:rPr sz="3825" b="1">
                <a:solidFill>
                  <a:srgbClr val="AD4438"/>
                </a:solidFill>
                <a:latin typeface="Arial"/>
                <a:ea typeface="Arial"/>
                <a:cs typeface="Arial"/>
              </a:rPr>
              <a:t>4 bohr = 2.1167 Å</a:t>
            </a:r>
          </a:p>
        </p:txBody>
      </p:sp>
      <p:sp>
        <p:nvSpPr>
          <p:cNvPr id="6" name="">
            <a:extLst xmlns:a="http://schemas.openxmlformats.org/drawingml/2006/main">
              <a:ext uri="{FF2B5EF4-FFF2-40B4-BE49-F238E27FC236}">
                <a16:creationId xmlns:a16="http://schemas.microsoft.com/office/drawing/2014/main" id="{FDB35117-D51E-4B95-A720-D3F084E8E1BF}"/>
              </a:ext>
            </a:extLst>
          </p:cNvPr>
          <p:cNvSpPr>
            <a:spLocks xmlns:a="http://schemas.openxmlformats.org/drawingml/2006/main" noGrp="1"/>
          </p:cNvSpPr>
          <p:nvPr/>
        </p:nvSpPr>
        <p:spPr>
          <a:xfrm xmlns:a="http://schemas.openxmlformats.org/drawingml/2006/main">
            <a:off x="647700" y="374332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96B71"/>
                </a:solidFill>
                <a:latin typeface="Arial"/>
                <a:ea typeface="Arial"/>
                <a:cs typeface="Arial"/>
              </a:defRPr>
            </a:pPr>
            <a:r>
              <a:rPr sz="2100" b="0">
                <a:solidFill>
                  <a:srgbClr val="596B71"/>
                </a:solidFill>
                <a:latin typeface="Arial"/>
                <a:ea typeface="Arial"/>
                <a:cs typeface="Arial"/>
              </a:rPr>
              <a:t>Intended v2 cutoff</a:t>
            </a:r>
          </a:p>
        </p:txBody>
      </p:sp>
      <p:sp>
        <p:nvSpPr>
          <p:cNvPr id="7" name="">
            <a:extLst xmlns:a="http://schemas.openxmlformats.org/drawingml/2006/main">
              <a:ext uri="{FF2B5EF4-FFF2-40B4-BE49-F238E27FC236}">
                <a16:creationId xmlns:a16="http://schemas.microsoft.com/office/drawing/2014/main" id="{AC166D03-BD39-4CC8-B087-FEF6E4007555}"/>
              </a:ext>
            </a:extLst>
          </p:cNvPr>
          <p:cNvSpPr>
            <a:spLocks xmlns:a="http://schemas.openxmlformats.org/drawingml/2006/main" noGrp="1"/>
          </p:cNvSpPr>
          <p:nvPr/>
        </p:nvSpPr>
        <p:spPr>
          <a:xfrm xmlns:a="http://schemas.openxmlformats.org/drawingml/2006/main">
            <a:off x="647700" y="4381500"/>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825" b="1">
                <a:solidFill>
                  <a:srgbClr val="007F7B"/>
                </a:solidFill>
                <a:latin typeface="Arial"/>
                <a:ea typeface="Arial"/>
                <a:cs typeface="Arial"/>
              </a:defRPr>
            </a:pPr>
            <a:r>
              <a:rPr sz="3825" b="1">
                <a:solidFill>
                  <a:srgbClr val="007F7B"/>
                </a:solidFill>
                <a:latin typeface="Arial"/>
                <a:ea typeface="Arial"/>
                <a:cs typeface="Arial"/>
              </a:rPr>
              <a:t>4 Å ≈ 7.5589 bohr</a:t>
            </a:r>
          </a:p>
        </p:txBody>
      </p:sp>
      <p:sp>
        <p:nvSpPr>
          <p:cNvPr id="8" name="">
            <a:extLst xmlns:a="http://schemas.openxmlformats.org/drawingml/2006/main">
              <a:ext uri="{FF2B5EF4-FFF2-40B4-BE49-F238E27FC236}">
                <a16:creationId xmlns:a16="http://schemas.microsoft.com/office/drawing/2014/main" id="{8DDF6491-C3F1-4509-B51F-1D4290563594}"/>
              </a:ext>
            </a:extLst>
          </p:cNvPr>
          <p:cNvSpPr>
            <a:spLocks xmlns:a="http://schemas.openxmlformats.org/drawingml/2006/main" noGrp="1"/>
          </p:cNvSpPr>
          <p:nvPr/>
        </p:nvSpPr>
        <p:spPr>
          <a:xfrm xmlns:a="http://schemas.openxmlformats.org/drawingml/2006/main">
            <a:off x="666750" y="545782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33C"/>
                </a:solidFill>
                <a:latin typeface="Arial"/>
                <a:ea typeface="Arial"/>
                <a:cs typeface="Arial"/>
              </a:defRPr>
            </a:pPr>
            <a:r>
              <a:rPr sz="1950" b="0">
                <a:solidFill>
                  <a:srgbClr val="18333C"/>
                </a:solidFill>
                <a:latin typeface="Arial"/>
                <a:ea typeface="Arial"/>
                <a:cs typeface="Arial"/>
              </a:rPr>
              <a:t>Historical forces mix settings and include unhealthy terminal outputs.</a:t>
            </a:r>
          </a:p>
          <a:p xmlns:a="http://schemas.openxmlformats.org/drawingml/2006/main">
            <a:pPr>
              <a:defRPr sz="1950" b="0">
                <a:solidFill>
                  <a:srgbClr val="18333C"/>
                </a:solidFill>
                <a:latin typeface="Arial"/>
                <a:ea typeface="Arial"/>
                <a:cs typeface="Arial"/>
              </a:defRPr>
            </a:pPr>
            <a:r>
              <a:rPr sz="1950" b="0">
                <a:solidFill>
                  <a:srgbClr val="18333C"/>
                </a:solidFill>
                <a:latin typeface="Arial"/>
                <a:ea typeface="Arial"/>
                <a:cs typeface="Arial"/>
              </a:rPr>
              <a:t>The corrected v2 workflow has not produced a new validated dataset.</a:t>
            </a:r>
          </a:p>
        </p:txBody>
      </p:sp>
    </p:spTree>
    <p:extLst>
      <p:ext uri="{BB962C8B-B14F-4D97-AF65-F5344CB8AC3E}">
        <p14:creationId xmlns:p14="http://schemas.microsoft.com/office/powerpoint/2010/main" val="726405159"/>
      </p:ext>
    </p:extLst>
  </p:cSld>
</p:sld>
</file>

<file path=ppt/slides/slide6.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04F7262-6E3C-49E0-A981-44546E0F9B18}"/>
              </a:ext>
            </a:extLst>
          </p:cNvPr>
          <p:cNvSpPr>
            <a:spLocks xmlns:a="http://schemas.openxmlformats.org/drawingml/2006/main" noGrp="1"/>
          </p:cNvSpPr>
          <p:nvPr/>
        </p:nvSpPr>
        <p:spPr>
          <a:xfrm xmlns:a="http://schemas.openxmlformats.org/drawingml/2006/main">
            <a:off x="590550" y="400050"/>
            <a:ext cx="11010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33C"/>
                </a:solidFill>
                <a:latin typeface="Arial"/>
                <a:ea typeface="Arial"/>
                <a:cs typeface="Arial"/>
              </a:defRPr>
            </a:pPr>
            <a:r>
              <a:rPr sz="3300" b="1">
                <a:solidFill>
                  <a:srgbClr val="18333C"/>
                </a:solidFill>
                <a:latin typeface="Arial"/>
                <a:ea typeface="Arial"/>
                <a:cs typeface="Arial"/>
              </a:rPr>
              <a:t>SrCu2SnS4 v2: minimal proposed pilot</a:t>
            </a:r>
          </a:p>
        </p:txBody>
      </p:sp>
      <p:sp>
        <p:nvSpPr>
          <p:cNvPr id="2" name="">
            <a:extLst xmlns:a="http://schemas.openxmlformats.org/drawingml/2006/main">
              <a:ext uri="{FF2B5EF4-FFF2-40B4-BE49-F238E27FC236}">
                <a16:creationId xmlns:a16="http://schemas.microsoft.com/office/drawing/2014/main" id="{B670B3A0-8BCA-4E4B-AAB0-4C36DF6FB4D3}"/>
              </a:ext>
            </a:extLst>
          </p:cNvPr>
          <p:cNvSpPr>
            <a:spLocks xmlns:a="http://schemas.openxmlformats.org/drawingml/2006/main" noGrp="1"/>
          </p:cNvSpPr>
          <p:nvPr/>
        </p:nvSpPr>
        <p:spPr>
          <a:xfrm xmlns:a="http://schemas.openxmlformats.org/drawingml/2006/main">
            <a:off x="609600" y="116205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B71"/>
                </a:solidFill>
                <a:latin typeface="Arial"/>
                <a:ea typeface="Arial"/>
                <a:cs typeface="Arial"/>
              </a:defRPr>
            </a:pPr>
            <a:r>
              <a:rPr sz="1725" b="0">
                <a:solidFill>
                  <a:srgbClr val="596B71"/>
                </a:solidFill>
                <a:latin typeface="Arial"/>
                <a:ea typeface="Arial"/>
                <a:cs typeface="Arial"/>
              </a:rPr>
              <a:t>Plan only. A corrected input contract still needs computational evidence.</a:t>
            </a:r>
          </a:p>
        </p:txBody>
      </p:sp>
      <p:sp>
        <p:nvSpPr>
          <p:cNvPr id="3" name="">
            <a:extLst xmlns:a="http://schemas.openxmlformats.org/drawingml/2006/main">
              <a:ext uri="{FF2B5EF4-FFF2-40B4-BE49-F238E27FC236}">
                <a16:creationId xmlns:a16="http://schemas.microsoft.com/office/drawing/2014/main" id="{9D5EC54F-5354-47AC-834A-D9BA802166FF}"/>
              </a:ext>
            </a:extLst>
          </p:cNvPr>
          <p:cNvSpPr>
            <a:spLocks xmlns:a="http://schemas.openxmlformats.org/drawingml/2006/main" noGrp="1"/>
          </p:cNvSpPr>
          <p:nvPr/>
        </p:nvSpPr>
        <p:spPr>
          <a:xfrm xmlns:a="http://schemas.openxmlformats.org/drawingml/2006/main">
            <a:off x="1104900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B71"/>
                </a:solidFill>
                <a:latin typeface="Arial"/>
                <a:ea typeface="Arial"/>
                <a:cs typeface="Arial"/>
              </a:defRPr>
            </a:pPr>
            <a:r>
              <a:rPr sz="1275" b="0">
                <a:solidFill>
                  <a:srgbClr val="596B71"/>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FFD4F06C-3CB6-48F8-9FC6-AF37ACD07DF5}"/>
              </a:ext>
            </a:extLst>
          </p:cNvPr>
          <p:cNvSpPr>
            <a:spLocks xmlns:a="http://schemas.openxmlformats.org/drawingml/2006/main" noGrp="1"/>
          </p:cNvSpPr>
          <p:nvPr/>
        </p:nvSpPr>
        <p:spPr>
          <a:xfrm xmlns:a="http://schemas.openxmlformats.org/drawingml/2006/main">
            <a:off x="638175" y="200977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F7B"/>
                </a:solidFill>
                <a:latin typeface="Arial"/>
                <a:ea typeface="Arial"/>
                <a:cs typeface="Arial"/>
              </a:defRPr>
            </a:pPr>
            <a:r>
              <a:rPr sz="3150" b="1">
                <a:solidFill>
                  <a:srgbClr val="007F7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3B765F6-76E8-4B0F-B9A4-4BBCDAEE7292}"/>
              </a:ext>
            </a:extLst>
          </p:cNvPr>
          <p:cNvSpPr>
            <a:spLocks xmlns:a="http://schemas.openxmlformats.org/drawingml/2006/main" noGrp="1"/>
          </p:cNvSpPr>
          <p:nvPr/>
        </p:nvSpPr>
        <p:spPr>
          <a:xfrm xmlns:a="http://schemas.openxmlformats.org/drawingml/2006/main">
            <a:off x="1666875" y="2000250"/>
            <a:ext cx="9477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8333C"/>
                </a:solidFill>
                <a:latin typeface="Arial"/>
                <a:ea typeface="Arial"/>
                <a:cs typeface="Arial"/>
              </a:defRPr>
            </a:pPr>
            <a:r>
              <a:rPr sz="2475" b="1">
                <a:solidFill>
                  <a:srgbClr val="18333C"/>
                </a:solidFill>
                <a:latin typeface="Arial"/>
                <a:ea typeface="Arial"/>
                <a:cs typeface="Arial"/>
              </a:rPr>
              <a:t>Healthy pristine reference</a:t>
            </a:r>
          </a:p>
        </p:txBody>
      </p:sp>
      <p:sp>
        <p:nvSpPr>
          <p:cNvPr id="6" name="">
            <a:extLst xmlns:a="http://schemas.openxmlformats.org/drawingml/2006/main">
              <a:ext uri="{FF2B5EF4-FFF2-40B4-BE49-F238E27FC236}">
                <a16:creationId xmlns:a16="http://schemas.microsoft.com/office/drawing/2014/main" id="{1B7613CC-3571-4B3E-9D4C-292A835939A3}"/>
              </a:ext>
            </a:extLst>
          </p:cNvPr>
          <p:cNvSpPr>
            <a:spLocks xmlns:a="http://schemas.openxmlformats.org/drawingml/2006/main" noGrp="1"/>
          </p:cNvSpPr>
          <p:nvPr/>
        </p:nvSpPr>
        <p:spPr>
          <a:xfrm xmlns:a="http://schemas.openxmlformats.org/drawingml/2006/main">
            <a:off x="1685925" y="2619375"/>
            <a:ext cx="9525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1"/>
                </a:solidFill>
                <a:latin typeface="Arial"/>
                <a:ea typeface="Arial"/>
                <a:cs typeface="Arial"/>
              </a:defRPr>
            </a:pPr>
            <a:r>
              <a:rPr sz="1875" b="0">
                <a:solidFill>
                  <a:srgbClr val="596B71"/>
                </a:solidFill>
                <a:latin typeface="Arial"/>
                <a:ea typeface="Arial"/>
                <a:cs typeface="Arial"/>
              </a:rPr>
              <a:t>Independent SCF, residual forces, exact input and pseudopotential binding</a:t>
            </a:r>
          </a:p>
        </p:txBody>
      </p:sp>
      <p:sp>
        <p:nvSpPr>
          <p:cNvPr id="7" name="">
            <a:extLst xmlns:a="http://schemas.openxmlformats.org/drawingml/2006/main">
              <a:ext uri="{FF2B5EF4-FFF2-40B4-BE49-F238E27FC236}">
                <a16:creationId xmlns:a16="http://schemas.microsoft.com/office/drawing/2014/main" id="{47C19301-C896-4950-A94F-B699AADAA8D0}"/>
              </a:ext>
            </a:extLst>
          </p:cNvPr>
          <p:cNvSpPr>
            <a:spLocks xmlns:a="http://schemas.openxmlformats.org/drawingml/2006/main" noGrp="1"/>
          </p:cNvSpPr>
          <p:nvPr/>
        </p:nvSpPr>
        <p:spPr>
          <a:xfrm xmlns:a="http://schemas.openxmlformats.org/drawingml/2006/main">
            <a:off x="638175" y="3409950"/>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F7B"/>
                </a:solidFill>
                <a:latin typeface="Arial"/>
                <a:ea typeface="Arial"/>
                <a:cs typeface="Arial"/>
              </a:defRPr>
            </a:pPr>
            <a:r>
              <a:rPr sz="3150" b="1">
                <a:solidFill>
                  <a:srgbClr val="007F7B"/>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B90837F-6489-46A6-9891-7DD554754D00}"/>
              </a:ext>
            </a:extLst>
          </p:cNvPr>
          <p:cNvSpPr>
            <a:spLocks xmlns:a="http://schemas.openxmlformats.org/drawingml/2006/main" noGrp="1"/>
          </p:cNvSpPr>
          <p:nvPr/>
        </p:nvSpPr>
        <p:spPr>
          <a:xfrm xmlns:a="http://schemas.openxmlformats.org/drawingml/2006/main">
            <a:off x="1666875" y="3400425"/>
            <a:ext cx="9477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8333C"/>
                </a:solidFill>
                <a:latin typeface="Arial"/>
                <a:ea typeface="Arial"/>
                <a:cs typeface="Arial"/>
              </a:defRPr>
            </a:pPr>
            <a:r>
              <a:rPr sz="2475" b="1">
                <a:solidFill>
                  <a:srgbClr val="18333C"/>
                </a:solidFill>
                <a:latin typeface="Arial"/>
                <a:ea typeface="Arial"/>
                <a:cs typeface="Arial"/>
              </a:rPr>
              <a:t>Small displaced-force controls</a:t>
            </a:r>
          </a:p>
        </p:txBody>
      </p:sp>
      <p:sp>
        <p:nvSpPr>
          <p:cNvPr id="9" name="">
            <a:extLst xmlns:a="http://schemas.openxmlformats.org/drawingml/2006/main">
              <a:ext uri="{FF2B5EF4-FFF2-40B4-BE49-F238E27FC236}">
                <a16:creationId xmlns:a16="http://schemas.microsoft.com/office/drawing/2014/main" id="{56CE81E7-EB65-4E3E-9899-303C462C1506}"/>
              </a:ext>
            </a:extLst>
          </p:cNvPr>
          <p:cNvSpPr>
            <a:spLocks xmlns:a="http://schemas.openxmlformats.org/drawingml/2006/main" noGrp="1"/>
          </p:cNvSpPr>
          <p:nvPr/>
        </p:nvSpPr>
        <p:spPr>
          <a:xfrm xmlns:a="http://schemas.openxmlformats.org/drawingml/2006/main">
            <a:off x="1685925" y="4019550"/>
            <a:ext cx="9525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1"/>
                </a:solidFill>
                <a:latin typeface="Arial"/>
                <a:ea typeface="Arial"/>
                <a:cs typeface="Arial"/>
              </a:defRPr>
            </a:pPr>
            <a:r>
              <a:rPr sz="1875" b="0">
                <a:solidFill>
                  <a:srgbClr val="596B71"/>
                </a:solidFill>
                <a:latin typeface="Arial"/>
                <a:ea typeface="Arial"/>
                <a:cs typeface="Arial"/>
              </a:rPr>
              <a:t>Repeated single and pair displacements, then amplitude and force-setting checks</a:t>
            </a:r>
          </a:p>
        </p:txBody>
      </p:sp>
      <p:sp>
        <p:nvSpPr>
          <p:cNvPr id="10" name="">
            <a:extLst xmlns:a="http://schemas.openxmlformats.org/drawingml/2006/main">
              <a:ext uri="{FF2B5EF4-FFF2-40B4-BE49-F238E27FC236}">
                <a16:creationId xmlns:a16="http://schemas.microsoft.com/office/drawing/2014/main" id="{551DF31E-188A-4DCB-AD39-3E24D467111D}"/>
              </a:ext>
            </a:extLst>
          </p:cNvPr>
          <p:cNvSpPr>
            <a:spLocks xmlns:a="http://schemas.openxmlformats.org/drawingml/2006/main" noGrp="1"/>
          </p:cNvSpPr>
          <p:nvPr/>
        </p:nvSpPr>
        <p:spPr>
          <a:xfrm xmlns:a="http://schemas.openxmlformats.org/drawingml/2006/main">
            <a:off x="638175" y="4810125"/>
            <a:ext cx="85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F7B"/>
                </a:solidFill>
                <a:latin typeface="Arial"/>
                <a:ea typeface="Arial"/>
                <a:cs typeface="Arial"/>
              </a:defRPr>
            </a:pPr>
            <a:r>
              <a:rPr sz="3150" b="1">
                <a:solidFill>
                  <a:srgbClr val="007F7B"/>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0B12C3CD-1013-4366-BB63-95DAC7874FDB}"/>
              </a:ext>
            </a:extLst>
          </p:cNvPr>
          <p:cNvSpPr>
            <a:spLocks xmlns:a="http://schemas.openxmlformats.org/drawingml/2006/main" noGrp="1"/>
          </p:cNvSpPr>
          <p:nvPr/>
        </p:nvSpPr>
        <p:spPr>
          <a:xfrm xmlns:a="http://schemas.openxmlformats.org/drawingml/2006/main">
            <a:off x="1666875" y="4800600"/>
            <a:ext cx="9477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8333C"/>
                </a:solidFill>
                <a:latin typeface="Arial"/>
                <a:ea typeface="Arial"/>
                <a:cs typeface="Arial"/>
              </a:defRPr>
            </a:pPr>
            <a:r>
              <a:rPr sz="2475" b="1">
                <a:solidFill>
                  <a:srgbClr val="18333C"/>
                </a:solidFill>
                <a:latin typeface="Arial"/>
                <a:ea typeface="Arial"/>
                <a:cs typeface="Arial"/>
              </a:rPr>
              <a:t>Conditional expansion</a:t>
            </a:r>
          </a:p>
        </p:txBody>
      </p:sp>
      <p:sp>
        <p:nvSpPr>
          <p:cNvPr id="12" name="">
            <a:extLst xmlns:a="http://schemas.openxmlformats.org/drawingml/2006/main">
              <a:ext uri="{FF2B5EF4-FFF2-40B4-BE49-F238E27FC236}">
                <a16:creationId xmlns:a16="http://schemas.microsoft.com/office/drawing/2014/main" id="{4DDA81EC-FAA7-4C70-A7C2-BAD65B876FD2}"/>
              </a:ext>
            </a:extLst>
          </p:cNvPr>
          <p:cNvSpPr>
            <a:spLocks xmlns:a="http://schemas.openxmlformats.org/drawingml/2006/main" noGrp="1"/>
          </p:cNvSpPr>
          <p:nvPr/>
        </p:nvSpPr>
        <p:spPr>
          <a:xfrm xmlns:a="http://schemas.openxmlformats.org/drawingml/2006/main">
            <a:off x="1685925" y="5419725"/>
            <a:ext cx="9525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1"/>
                </a:solidFill>
                <a:latin typeface="Arial"/>
                <a:ea typeface="Arial"/>
                <a:cs typeface="Arial"/>
              </a:defRPr>
            </a:pPr>
            <a:r>
              <a:rPr sz="1875" b="0">
                <a:solidFill>
                  <a:srgbClr val="596B71"/>
                </a:solidFill>
                <a:latin typeface="Arial"/>
                <a:ea typeface="Arial"/>
                <a:cs typeface="Arial"/>
              </a:rPr>
              <a:t>Only after signal, health and mapping checks: cutoff, supercell and q-mesh studies</a:t>
            </a:r>
          </a:p>
        </p:txBody>
      </p:sp>
    </p:spTree>
    <p:extLst>
      <p:ext uri="{BB962C8B-B14F-4D97-AF65-F5344CB8AC3E}">
        <p14:creationId xmlns:p14="http://schemas.microsoft.com/office/powerpoint/2010/main" val="1758964939"/>
      </p:ext>
    </p:extLst>
  </p:cSld>
</p:sld>
</file>

<file path=ppt/slides/slide7.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D2FBE6D-28CC-4F08-ACA0-9F229C47841B}"/>
              </a:ext>
            </a:extLst>
          </p:cNvPr>
          <p:cNvSpPr>
            <a:spLocks xmlns:a="http://schemas.openxmlformats.org/drawingml/2006/main" noGrp="1"/>
          </p:cNvSpPr>
          <p:nvPr/>
        </p:nvSpPr>
        <p:spPr>
          <a:xfrm xmlns:a="http://schemas.openxmlformats.org/drawingml/2006/main">
            <a:off x="590550" y="400050"/>
            <a:ext cx="11010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33C"/>
                </a:solidFill>
                <a:latin typeface="Arial"/>
                <a:ea typeface="Arial"/>
                <a:cs typeface="Arial"/>
              </a:defRPr>
            </a:pPr>
            <a:r>
              <a:rPr sz="3300" b="1">
                <a:solidFill>
                  <a:srgbClr val="18333C"/>
                </a:solidFill>
                <a:latin typeface="Arial"/>
                <a:ea typeface="Arial"/>
                <a:cs typeface="Arial"/>
              </a:rPr>
              <a:t>SrZrS3: imaginary-mode origin is unresolved</a:t>
            </a:r>
          </a:p>
        </p:txBody>
      </p:sp>
      <p:sp>
        <p:nvSpPr>
          <p:cNvPr id="2" name="">
            <a:extLst xmlns:a="http://schemas.openxmlformats.org/drawingml/2006/main">
              <a:ext uri="{FF2B5EF4-FFF2-40B4-BE49-F238E27FC236}">
                <a16:creationId xmlns:a16="http://schemas.microsoft.com/office/drawing/2014/main" id="{C5F728B1-021F-4EBD-A269-586A748857D2}"/>
              </a:ext>
            </a:extLst>
          </p:cNvPr>
          <p:cNvSpPr>
            <a:spLocks xmlns:a="http://schemas.openxmlformats.org/drawingml/2006/main" noGrp="1"/>
          </p:cNvSpPr>
          <p:nvPr/>
        </p:nvSpPr>
        <p:spPr>
          <a:xfrm xmlns:a="http://schemas.openxmlformats.org/drawingml/2006/main">
            <a:off x="609600" y="116205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B71"/>
                </a:solidFill>
                <a:latin typeface="Arial"/>
                <a:ea typeface="Arial"/>
                <a:cs typeface="Arial"/>
              </a:defRPr>
            </a:pPr>
            <a:r>
              <a:rPr sz="1725" b="0">
                <a:solidFill>
                  <a:srgbClr val="596B71"/>
                </a:solidFill>
                <a:latin typeface="Arial"/>
                <a:ea typeface="Arial"/>
                <a:cs typeface="Arial"/>
              </a:rPr>
              <a:t>The finite diagnostic κL cannot be used for zT</a:t>
            </a:r>
          </a:p>
        </p:txBody>
      </p:sp>
      <p:sp>
        <p:nvSpPr>
          <p:cNvPr id="3" name="">
            <a:extLst xmlns:a="http://schemas.openxmlformats.org/drawingml/2006/main">
              <a:ext uri="{FF2B5EF4-FFF2-40B4-BE49-F238E27FC236}">
                <a16:creationId xmlns:a16="http://schemas.microsoft.com/office/drawing/2014/main" id="{C12829BC-3E35-4D62-B4D8-FFE25A93F585}"/>
              </a:ext>
            </a:extLst>
          </p:cNvPr>
          <p:cNvSpPr>
            <a:spLocks xmlns:a="http://schemas.openxmlformats.org/drawingml/2006/main" noGrp="1"/>
          </p:cNvSpPr>
          <p:nvPr/>
        </p:nvSpPr>
        <p:spPr>
          <a:xfrm xmlns:a="http://schemas.openxmlformats.org/drawingml/2006/main">
            <a:off x="1104900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B71"/>
                </a:solidFill>
                <a:latin typeface="Arial"/>
                <a:ea typeface="Arial"/>
                <a:cs typeface="Arial"/>
              </a:defRPr>
            </a:pPr>
            <a:r>
              <a:rPr sz="1275" b="0">
                <a:solidFill>
                  <a:srgbClr val="596B71"/>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62A49AA8-4D5E-4EDF-9A33-9A89F4D13384}"/>
              </a:ext>
            </a:extLst>
          </p:cNvPr>
          <p:cNvSpPr>
            <a:spLocks xmlns:a="http://schemas.openxmlformats.org/drawingml/2006/main" noGrp="1"/>
          </p:cNvSpPr>
          <p:nvPr/>
        </p:nvSpPr>
        <p:spPr>
          <a:xfrm xmlns:a="http://schemas.openxmlformats.org/drawingml/2006/main">
            <a:off x="638175" y="2009775"/>
            <a:ext cx="533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AD4438"/>
                </a:solidFill>
                <a:latin typeface="Arial"/>
                <a:ea typeface="Arial"/>
                <a:cs typeface="Arial"/>
              </a:defRPr>
            </a:pPr>
            <a:r>
              <a:rPr sz="4650" b="1">
                <a:solidFill>
                  <a:srgbClr val="AD4438"/>
                </a:solidFill>
                <a:latin typeface="Arial"/>
                <a:ea typeface="Arial"/>
                <a:cs typeface="Arial"/>
              </a:rPr>
              <a:t>−1.0716 THz</a:t>
            </a:r>
          </a:p>
        </p:txBody>
      </p:sp>
      <p:sp>
        <p:nvSpPr>
          <p:cNvPr id="5" name="">
            <a:extLst xmlns:a="http://schemas.openxmlformats.org/drawingml/2006/main">
              <a:ext uri="{FF2B5EF4-FFF2-40B4-BE49-F238E27FC236}">
                <a16:creationId xmlns:a16="http://schemas.microsoft.com/office/drawing/2014/main" id="{98C81F09-8D62-4DD3-8C91-5A1918147CC7}"/>
              </a:ext>
            </a:extLst>
          </p:cNvPr>
          <p:cNvSpPr>
            <a:spLocks xmlns:a="http://schemas.openxmlformats.org/drawingml/2006/main" noGrp="1"/>
          </p:cNvSpPr>
          <p:nvPr/>
        </p:nvSpPr>
        <p:spPr>
          <a:xfrm xmlns:a="http://schemas.openxmlformats.org/drawingml/2006/main">
            <a:off x="666750" y="3057525"/>
            <a:ext cx="5286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33C"/>
                </a:solidFill>
                <a:latin typeface="Arial"/>
                <a:ea typeface="Arial"/>
                <a:cs typeface="Arial"/>
              </a:defRPr>
            </a:pPr>
            <a:r>
              <a:rPr sz="2100" b="0">
                <a:solidFill>
                  <a:srgbClr val="18333C"/>
                </a:solidFill>
                <a:latin typeface="Arial"/>
                <a:ea typeface="Arial"/>
                <a:cs typeface="Arial"/>
              </a:rPr>
              <a:t>Minimum sampled frequency</a:t>
            </a:r>
          </a:p>
          <a:p xmlns:a="http://schemas.openxmlformats.org/drawingml/2006/main">
            <a:pPr>
              <a:defRPr sz="2100" b="0">
                <a:solidFill>
                  <a:srgbClr val="18333C"/>
                </a:solidFill>
                <a:latin typeface="Arial"/>
                <a:ea typeface="Arial"/>
                <a:cs typeface="Arial"/>
              </a:defRPr>
            </a:pPr>
            <a:r>
              <a:rPr sz="2100" b="0">
                <a:solidFill>
                  <a:srgbClr val="18333C"/>
                </a:solidFill>
                <a:latin typeface="Arial"/>
                <a:ea typeface="Arial"/>
                <a:cs typeface="Arial"/>
              </a:rPr>
              <a:t>q = (0, 0.4, 0)</a:t>
            </a:r>
          </a:p>
        </p:txBody>
      </p:sp>
      <p:sp>
        <p:nvSpPr>
          <p:cNvPr id="6" name="">
            <a:extLst xmlns:a="http://schemas.openxmlformats.org/drawingml/2006/main">
              <a:ext uri="{FF2B5EF4-FFF2-40B4-BE49-F238E27FC236}">
                <a16:creationId xmlns:a16="http://schemas.microsoft.com/office/drawing/2014/main" id="{4761C615-6E9D-4955-89D5-995AA60AA45A}"/>
              </a:ext>
            </a:extLst>
          </p:cNvPr>
          <p:cNvSpPr>
            <a:spLocks xmlns:a="http://schemas.openxmlformats.org/drawingml/2006/main" noGrp="1"/>
          </p:cNvSpPr>
          <p:nvPr/>
        </p:nvSpPr>
        <p:spPr>
          <a:xfrm xmlns:a="http://schemas.openxmlformats.org/drawingml/2006/main">
            <a:off x="666750" y="4476750"/>
            <a:ext cx="528637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96B71"/>
                </a:solidFill>
                <a:latin typeface="Arial"/>
                <a:ea typeface="Arial"/>
                <a:cs typeface="Arial"/>
              </a:defRPr>
            </a:pPr>
            <a:r>
              <a:rPr sz="1950" b="0">
                <a:solidFill>
                  <a:srgbClr val="596B71"/>
                </a:solidFill>
                <a:latin typeface="Arial"/>
                <a:ea typeface="Arial"/>
                <a:cs typeface="Arial"/>
              </a:rPr>
              <a:t>Pristine maximum force</a:t>
            </a:r>
          </a:p>
          <a:p xmlns:a="http://schemas.openxmlformats.org/drawingml/2006/main">
            <a:pPr>
              <a:defRPr sz="1950" b="0">
                <a:solidFill>
                  <a:srgbClr val="596B71"/>
                </a:solidFill>
                <a:latin typeface="Arial"/>
                <a:ea typeface="Arial"/>
                <a:cs typeface="Arial"/>
              </a:defRPr>
            </a:pPr>
            <a:r>
              <a:rPr sz="1950" b="0">
                <a:solidFill>
                  <a:srgbClr val="596B71"/>
                </a:solidFill>
                <a:latin typeface="Arial"/>
                <a:ea typeface="Arial"/>
                <a:cs typeface="Arial"/>
              </a:rPr>
              <a:t>9.342 × 10⁻⁵ Ry/bohr</a:t>
            </a:r>
          </a:p>
          <a:p xmlns:a="http://schemas.openxmlformats.org/drawingml/2006/main">
            <a:pPr>
              <a:defRPr sz="1950" b="0">
                <a:solidFill>
                  <a:srgbClr val="596B71"/>
                </a:solidFill>
                <a:latin typeface="Arial"/>
                <a:ea typeface="Arial"/>
                <a:cs typeface="Arial"/>
              </a:defRPr>
            </a:pPr>
            <a:r>
              <a:rPr sz="1950" b="0">
                <a:solidFill>
                  <a:srgbClr val="596B71"/>
                </a:solidFill>
                <a:latin typeface="Arial"/>
                <a:ea typeface="Arial"/>
                <a:cs typeface="Arial"/>
              </a:rPr>
              <a:t>Preferred gate: 5 × 10⁻⁵</a:t>
            </a:r>
          </a:p>
        </p:txBody>
      </p:sp>
      <p:sp>
        <p:nvSpPr>
          <p:cNvPr id="7" name="">
            <a:extLst xmlns:a="http://schemas.openxmlformats.org/drawingml/2006/main">
              <a:ext uri="{FF2B5EF4-FFF2-40B4-BE49-F238E27FC236}">
                <a16:creationId xmlns:a16="http://schemas.microsoft.com/office/drawing/2014/main" id="{704EC48F-EFDE-49DF-AD1F-B584940D526C}"/>
              </a:ext>
            </a:extLst>
          </p:cNvPr>
          <p:cNvSpPr>
            <a:spLocks xmlns:a="http://schemas.openxmlformats.org/drawingml/2006/main" noGrp="1"/>
          </p:cNvSpPr>
          <p:nvPr/>
        </p:nvSpPr>
        <p:spPr>
          <a:xfrm xmlns:a="http://schemas.openxmlformats.org/drawingml/2006/main">
            <a:off x="6629400" y="2076450"/>
            <a:ext cx="476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007F7B"/>
                </a:solidFill>
                <a:latin typeface="Arial"/>
                <a:ea typeface="Arial"/>
                <a:cs typeface="Arial"/>
              </a:defRPr>
            </a:pPr>
            <a:r>
              <a:rPr sz="2325" b="1">
                <a:solidFill>
                  <a:srgbClr val="007F7B"/>
                </a:solidFill>
                <a:latin typeface="Arial"/>
                <a:ea typeface="Arial"/>
                <a:cs typeface="Arial"/>
              </a:rPr>
              <a:t>Small discriminating controls</a:t>
            </a:r>
          </a:p>
        </p:txBody>
      </p:sp>
      <p:sp>
        <p:nvSpPr>
          <p:cNvPr id="8" name="">
            <a:extLst xmlns:a="http://schemas.openxmlformats.org/drawingml/2006/main">
              <a:ext uri="{FF2B5EF4-FFF2-40B4-BE49-F238E27FC236}">
                <a16:creationId xmlns:a16="http://schemas.microsoft.com/office/drawing/2014/main" id="{5C2B6E94-22D3-430B-93F1-263356390F73}"/>
              </a:ext>
            </a:extLst>
          </p:cNvPr>
          <p:cNvSpPr>
            <a:spLocks xmlns:a="http://schemas.openxmlformats.org/drawingml/2006/main" noGrp="1"/>
          </p:cNvSpPr>
          <p:nvPr/>
        </p:nvSpPr>
        <p:spPr>
          <a:xfrm xmlns:a="http://schemas.openxmlformats.org/drawingml/2006/main">
            <a:off x="6648450" y="2990850"/>
            <a:ext cx="476250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33C"/>
                </a:solidFill>
                <a:latin typeface="Arial"/>
                <a:ea typeface="Arial"/>
                <a:cs typeface="Arial"/>
              </a:defRPr>
            </a:pPr>
            <a:r>
              <a:rPr sz="2175" b="0">
                <a:solidFill>
                  <a:srgbClr val="18333C"/>
                </a:solidFill>
                <a:latin typeface="Arial"/>
                <a:ea typeface="Arial"/>
                <a:cs typeface="Arial"/>
              </a:rPr>
              <a:t>Residual forces and SCF sensitivity</a:t>
            </a:r>
          </a:p>
          <a:p xmlns:a="http://schemas.openxmlformats.org/drawingml/2006/main">
            <a:r>
              <a:t/>
            </a:r>
          </a:p>
          <a:p xmlns:a="http://schemas.openxmlformats.org/drawingml/2006/main">
            <a:pPr>
              <a:defRPr sz="2175" b="0">
                <a:solidFill>
                  <a:srgbClr val="18333C"/>
                </a:solidFill>
                <a:latin typeface="Arial"/>
                <a:ea typeface="Arial"/>
                <a:cs typeface="Arial"/>
              </a:defRPr>
            </a:pPr>
            <a:r>
              <a:rPr sz="2175" b="0">
                <a:solidFill>
                  <a:srgbClr val="18333C"/>
                </a:solidFill>
                <a:latin typeface="Arial"/>
                <a:ea typeface="Arial"/>
                <a:cs typeface="Arial"/>
              </a:rPr>
              <a:t>Harmonic range and supercell size</a:t>
            </a:r>
          </a:p>
          <a:p xmlns:a="http://schemas.openxmlformats.org/drawingml/2006/main">
            <a:r>
              <a:t/>
            </a:r>
          </a:p>
          <a:p xmlns:a="http://schemas.openxmlformats.org/drawingml/2006/main">
            <a:pPr>
              <a:defRPr sz="2175" b="0">
                <a:solidFill>
                  <a:srgbClr val="18333C"/>
                </a:solidFill>
                <a:latin typeface="Arial"/>
                <a:ea typeface="Arial"/>
                <a:cs typeface="Arial"/>
              </a:defRPr>
            </a:pPr>
            <a:r>
              <a:rPr sz="2175" b="0">
                <a:solidFill>
                  <a:srgbClr val="18333C"/>
                </a:solidFill>
                <a:latin typeface="Arial"/>
                <a:ea typeface="Arial"/>
                <a:cs typeface="Arial"/>
              </a:rPr>
              <a:t>Mode character and structural response</a:t>
            </a:r>
          </a:p>
        </p:txBody>
      </p:sp>
      <p:sp>
        <p:nvSpPr>
          <p:cNvPr id="9" name="">
            <a:extLst xmlns:a="http://schemas.openxmlformats.org/drawingml/2006/main">
              <a:ext uri="{FF2B5EF4-FFF2-40B4-BE49-F238E27FC236}">
                <a16:creationId xmlns:a16="http://schemas.microsoft.com/office/drawing/2014/main" id="{0B554F4B-FA19-427B-8091-3231BB29A7B0}"/>
              </a:ext>
            </a:extLst>
          </p:cNvPr>
          <p:cNvSpPr>
            <a:spLocks xmlns:a="http://schemas.openxmlformats.org/drawingml/2006/main" noGrp="1"/>
          </p:cNvSpPr>
          <p:nvPr/>
        </p:nvSpPr>
        <p:spPr>
          <a:xfrm xmlns:a="http://schemas.openxmlformats.org/drawingml/2006/main">
            <a:off x="6619875" y="56388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AD4438"/>
                </a:solidFill>
                <a:latin typeface="Arial"/>
                <a:ea typeface="Arial"/>
                <a:cs typeface="Arial"/>
              </a:defRPr>
            </a:pPr>
            <a:r>
              <a:rPr sz="1725" b="0">
                <a:solidFill>
                  <a:srgbClr val="AD4438"/>
                </a:solidFill>
                <a:latin typeface="Arial"/>
                <a:ea typeface="Arial"/>
                <a:cs typeface="Arial"/>
              </a:rPr>
              <a:t>No direct claim of real-material instability</a:t>
            </a:r>
          </a:p>
        </p:txBody>
      </p:sp>
    </p:spTree>
    <p:extLst>
      <p:ext uri="{BB962C8B-B14F-4D97-AF65-F5344CB8AC3E}">
        <p14:creationId xmlns:p14="http://schemas.microsoft.com/office/powerpoint/2010/main" val="409191607"/>
      </p:ext>
    </p:extLst>
  </p:cSld>
</p:sld>
</file>

<file path=ppt/slides/slide8.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380AB2A-7016-4327-A8C0-69EC67918558}"/>
              </a:ext>
            </a:extLst>
          </p:cNvPr>
          <p:cNvSpPr>
            <a:spLocks xmlns:a="http://schemas.openxmlformats.org/drawingml/2006/main" noGrp="1"/>
          </p:cNvSpPr>
          <p:nvPr/>
        </p:nvSpPr>
        <p:spPr>
          <a:xfrm xmlns:a="http://schemas.openxmlformats.org/drawingml/2006/main">
            <a:off x="590550" y="400050"/>
            <a:ext cx="11010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33C"/>
                </a:solidFill>
                <a:latin typeface="Arial"/>
                <a:ea typeface="Arial"/>
                <a:cs typeface="Arial"/>
              </a:defRPr>
            </a:pPr>
            <a:r>
              <a:rPr sz="3300" b="1">
                <a:solidFill>
                  <a:srgbClr val="18333C"/>
                </a:solidFill>
                <a:latin typeface="Arial"/>
                <a:ea typeface="Arial"/>
                <a:cs typeface="Arial"/>
              </a:rPr>
              <a:t>Rb2Cu2SnS4: direction-dependent mesh response</a:t>
            </a:r>
          </a:p>
        </p:txBody>
      </p:sp>
      <p:sp>
        <p:nvSpPr>
          <p:cNvPr id="2" name="">
            <a:extLst xmlns:a="http://schemas.openxmlformats.org/drawingml/2006/main">
              <a:ext uri="{FF2B5EF4-FFF2-40B4-BE49-F238E27FC236}">
                <a16:creationId xmlns:a16="http://schemas.microsoft.com/office/drawing/2014/main" id="{32CE80F4-20DB-4D86-818E-A6AEFE28A9FF}"/>
              </a:ext>
            </a:extLst>
          </p:cNvPr>
          <p:cNvSpPr>
            <a:spLocks xmlns:a="http://schemas.openxmlformats.org/drawingml/2006/main" noGrp="1"/>
          </p:cNvSpPr>
          <p:nvPr/>
        </p:nvSpPr>
        <p:spPr>
          <a:xfrm xmlns:a="http://schemas.openxmlformats.org/drawingml/2006/main">
            <a:off x="609600" y="116205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B71"/>
                </a:solidFill>
                <a:latin typeface="Arial"/>
                <a:ea typeface="Arial"/>
                <a:cs typeface="Arial"/>
              </a:defRPr>
            </a:pPr>
            <a:r>
              <a:rPr sz="1725" b="0">
                <a:solidFill>
                  <a:srgbClr val="596B71"/>
                </a:solidFill>
                <a:latin typeface="Arial"/>
                <a:ea typeface="Arial"/>
                <a:cs typeface="Arial"/>
              </a:rPr>
              <a:t>300 K, saved first-pass diagnostic tensors</a:t>
            </a:r>
          </a:p>
        </p:txBody>
      </p:sp>
      <p:sp>
        <p:nvSpPr>
          <p:cNvPr id="3" name="">
            <a:extLst xmlns:a="http://schemas.openxmlformats.org/drawingml/2006/main">
              <a:ext uri="{FF2B5EF4-FFF2-40B4-BE49-F238E27FC236}">
                <a16:creationId xmlns:a16="http://schemas.microsoft.com/office/drawing/2014/main" id="{EACFD838-C354-4480-AA74-83820D9CE901}"/>
              </a:ext>
            </a:extLst>
          </p:cNvPr>
          <p:cNvSpPr>
            <a:spLocks xmlns:a="http://schemas.openxmlformats.org/drawingml/2006/main" noGrp="1"/>
          </p:cNvSpPr>
          <p:nvPr/>
        </p:nvSpPr>
        <p:spPr>
          <a:xfrm xmlns:a="http://schemas.openxmlformats.org/drawingml/2006/main">
            <a:off x="1104900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B71"/>
                </a:solidFill>
                <a:latin typeface="Arial"/>
                <a:ea typeface="Arial"/>
                <a:cs typeface="Arial"/>
              </a:defRPr>
            </a:pPr>
            <a:r>
              <a:rPr sz="1275" b="0">
                <a:solidFill>
                  <a:srgbClr val="596B71"/>
                </a:solidFill>
                <a:latin typeface="Arial"/>
                <a:ea typeface="Arial"/>
                <a:cs typeface="Arial"/>
              </a:rPr>
              <a:t>08</a:t>
            </a:r>
          </a:p>
        </p:txBody>
      </p:sp>
      <p:graphicFrame>
        <p:nvGraphicFramePr>
          <p:cNvPr id="11" name="Chart"/>
          <p:cNvGraphicFramePr/>
          <p:nvPr/>
        </p:nvGraphicFramePr>
        <p:xfrm>
          <a:off xmlns:a="http://schemas.openxmlformats.org/drawingml/2006/main" x="628650" y="1933575"/>
          <a:ext xmlns:a="http://schemas.openxmlformats.org/drawingml/2006/main" cx="7943850" cy="3857625"/>
        </p:xfrm>
        <a:graphic xmlns:a="http://schemas.openxmlformats.org/drawingml/2006/main">
          <a:graphicData uri="http://schemas.openxmlformats.org/drawingml/2006/chart">
            <c:chart xmlns:r="http://schemas.openxmlformats.org/officeDocument/2006/relationships" xmlns:c="http://schemas.openxmlformats.org/drawingml/2006/chart" r:id="Re9a569ded36d4457"/>
          </a:graphicData>
        </a:graphic>
      </p:graphicFrame>
      <p:sp>
        <p:nvSpPr>
          <p:cNvPr id="5" name="">
            <a:extLst xmlns:a="http://schemas.openxmlformats.org/drawingml/2006/main">
              <a:ext uri="{FF2B5EF4-FFF2-40B4-BE49-F238E27FC236}">
                <a16:creationId xmlns:a16="http://schemas.microsoft.com/office/drawing/2014/main" id="{98A0F2D1-24B6-479B-A4E7-E0C47C8E483B}"/>
              </a:ext>
            </a:extLst>
          </p:cNvPr>
          <p:cNvSpPr>
            <a:spLocks xmlns:a="http://schemas.openxmlformats.org/drawingml/2006/main" noGrp="1"/>
          </p:cNvSpPr>
          <p:nvPr/>
        </p:nvSpPr>
        <p:spPr>
          <a:xfrm xmlns:a="http://schemas.openxmlformats.org/drawingml/2006/main">
            <a:off x="9039225" y="2171700"/>
            <a:ext cx="25336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B46936"/>
                </a:solidFill>
                <a:latin typeface="Arial"/>
                <a:ea typeface="Arial"/>
                <a:cs typeface="Arial"/>
              </a:defRPr>
            </a:pPr>
            <a:r>
              <a:rPr sz="2325" b="1">
                <a:solidFill>
                  <a:srgbClr val="B46936"/>
                </a:solidFill>
                <a:latin typeface="Arial"/>
                <a:ea typeface="Arial"/>
                <a:cs typeface="Arial"/>
              </a:rPr>
              <a:t>zz changes most</a:t>
            </a:r>
          </a:p>
        </p:txBody>
      </p:sp>
      <p:sp>
        <p:nvSpPr>
          <p:cNvPr id="6" name="">
            <a:extLst xmlns:a="http://schemas.openxmlformats.org/drawingml/2006/main">
              <a:ext uri="{FF2B5EF4-FFF2-40B4-BE49-F238E27FC236}">
                <a16:creationId xmlns:a16="http://schemas.microsoft.com/office/drawing/2014/main" id="{22E18AEB-42D6-4F0E-8157-D1DE232F7DEC}"/>
              </a:ext>
            </a:extLst>
          </p:cNvPr>
          <p:cNvSpPr>
            <a:spLocks xmlns:a="http://schemas.openxmlformats.org/drawingml/2006/main" noGrp="1"/>
          </p:cNvSpPr>
          <p:nvPr/>
        </p:nvSpPr>
        <p:spPr>
          <a:xfrm xmlns:a="http://schemas.openxmlformats.org/drawingml/2006/main">
            <a:off x="9039225" y="3314700"/>
            <a:ext cx="25336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33C"/>
                </a:solidFill>
                <a:latin typeface="Arial"/>
                <a:ea typeface="Arial"/>
                <a:cs typeface="Arial"/>
              </a:defRPr>
            </a:pPr>
            <a:r>
              <a:rPr sz="2025" b="0">
                <a:solidFill>
                  <a:srgbClr val="18333C"/>
                </a:solidFill>
                <a:latin typeface="Arial"/>
                <a:ea typeface="Arial"/>
                <a:cs typeface="Arial"/>
              </a:rPr>
              <a:t>A smoother average can</a:t>
            </a:r>
          </a:p>
          <a:p xmlns:a="http://schemas.openxmlformats.org/drawingml/2006/main">
            <a:pPr>
              <a:defRPr sz="2025" b="0">
                <a:solidFill>
                  <a:srgbClr val="18333C"/>
                </a:solidFill>
                <a:latin typeface="Arial"/>
                <a:ea typeface="Arial"/>
                <a:cs typeface="Arial"/>
              </a:defRPr>
            </a:pPr>
            <a:r>
              <a:rPr sz="2025" b="0">
                <a:solidFill>
                  <a:srgbClr val="18333C"/>
                </a:solidFill>
                <a:latin typeface="Arial"/>
                <a:ea typeface="Arial"/>
                <a:cs typeface="Arial"/>
              </a:rPr>
              <a:t>hide a poorly converged</a:t>
            </a:r>
          </a:p>
          <a:p xmlns:a="http://schemas.openxmlformats.org/drawingml/2006/main">
            <a:pPr>
              <a:defRPr sz="2025" b="0">
                <a:solidFill>
                  <a:srgbClr val="18333C"/>
                </a:solidFill>
                <a:latin typeface="Arial"/>
                <a:ea typeface="Arial"/>
                <a:cs typeface="Arial"/>
              </a:defRPr>
            </a:pPr>
            <a:r>
              <a:rPr sz="2025" b="0">
                <a:solidFill>
                  <a:srgbClr val="18333C"/>
                </a:solidFill>
                <a:latin typeface="Arial"/>
                <a:ea typeface="Arial"/>
                <a:cs typeface="Arial"/>
              </a:rPr>
              <a:t>direction.</a:t>
            </a:r>
          </a:p>
        </p:txBody>
      </p:sp>
      <p:sp>
        <p:nvSpPr>
          <p:cNvPr id="7" name="">
            <a:extLst xmlns:a="http://schemas.openxmlformats.org/drawingml/2006/main">
              <a:ext uri="{FF2B5EF4-FFF2-40B4-BE49-F238E27FC236}">
                <a16:creationId xmlns:a16="http://schemas.microsoft.com/office/drawing/2014/main" id="{76A4B54A-35C1-454A-ACF5-5AEB69B486F8}"/>
              </a:ext>
            </a:extLst>
          </p:cNvPr>
          <p:cNvSpPr>
            <a:spLocks xmlns:a="http://schemas.openxmlformats.org/drawingml/2006/main" noGrp="1"/>
          </p:cNvSpPr>
          <p:nvPr/>
        </p:nvSpPr>
        <p:spPr>
          <a:xfrm xmlns:a="http://schemas.openxmlformats.org/drawingml/2006/main">
            <a:off x="9039225" y="5372100"/>
            <a:ext cx="257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B71"/>
                </a:solidFill>
                <a:latin typeface="Arial"/>
                <a:ea typeface="Arial"/>
                <a:cs typeface="Arial"/>
              </a:defRPr>
            </a:pPr>
            <a:r>
              <a:rPr sz="1725" b="0">
                <a:solidFill>
                  <a:srgbClr val="596B71"/>
                </a:solidFill>
                <a:latin typeface="Arial"/>
                <a:ea typeface="Arial"/>
                <a:cs typeface="Arial"/>
              </a:rPr>
              <a:t>No extrapolated value</a:t>
            </a:r>
          </a:p>
        </p:txBody>
      </p:sp>
    </p:spTree>
    <p:extLst>
      <p:ext uri="{BB962C8B-B14F-4D97-AF65-F5344CB8AC3E}">
        <p14:creationId xmlns:p14="http://schemas.microsoft.com/office/powerpoint/2010/main" val="2082985496"/>
      </p:ext>
    </p:extLst>
  </p:cSld>
</p:sld>
</file>

<file path=ppt/slides/slide9.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581585D-B600-4DAB-A95C-93D43AF3E6D1}"/>
              </a:ext>
            </a:extLst>
          </p:cNvPr>
          <p:cNvSpPr>
            <a:spLocks xmlns:a="http://schemas.openxmlformats.org/drawingml/2006/main" noGrp="1"/>
          </p:cNvSpPr>
          <p:nvPr/>
        </p:nvSpPr>
        <p:spPr>
          <a:xfrm xmlns:a="http://schemas.openxmlformats.org/drawingml/2006/main">
            <a:off x="590550" y="400050"/>
            <a:ext cx="11010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33C"/>
                </a:solidFill>
                <a:latin typeface="Arial"/>
                <a:ea typeface="Arial"/>
                <a:cs typeface="Arial"/>
              </a:defRPr>
            </a:pPr>
            <a:r>
              <a:rPr sz="3300" b="1">
                <a:solidFill>
                  <a:srgbClr val="18333C"/>
                </a:solidFill>
                <a:latin typeface="Arial"/>
                <a:ea typeface="Arial"/>
                <a:cs typeface="Arial"/>
              </a:rPr>
              <a:t>Rb2Cu2SnS4: the final step still fails</a:t>
            </a:r>
          </a:p>
        </p:txBody>
      </p:sp>
      <p:sp>
        <p:nvSpPr>
          <p:cNvPr id="2" name="">
            <a:extLst xmlns:a="http://schemas.openxmlformats.org/drawingml/2006/main">
              <a:ext uri="{FF2B5EF4-FFF2-40B4-BE49-F238E27FC236}">
                <a16:creationId xmlns:a16="http://schemas.microsoft.com/office/drawing/2014/main" id="{D4F48528-E249-4246-9CCA-26A2961667E4}"/>
              </a:ext>
            </a:extLst>
          </p:cNvPr>
          <p:cNvSpPr>
            <a:spLocks xmlns:a="http://schemas.openxmlformats.org/drawingml/2006/main" noGrp="1"/>
          </p:cNvSpPr>
          <p:nvPr/>
        </p:nvSpPr>
        <p:spPr>
          <a:xfrm xmlns:a="http://schemas.openxmlformats.org/drawingml/2006/main">
            <a:off x="609600" y="116205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B71"/>
                </a:solidFill>
                <a:latin typeface="Arial"/>
                <a:ea typeface="Arial"/>
                <a:cs typeface="Arial"/>
              </a:defRPr>
            </a:pPr>
            <a:r>
              <a:rPr sz="1725" b="0">
                <a:solidFill>
                  <a:srgbClr val="596B71"/>
                </a:solidFill>
                <a:latin typeface="Arial"/>
                <a:ea typeface="Arial"/>
                <a:cs typeface="Arial"/>
              </a:rPr>
              <a:t>90 to 105 Å. Relative change uses the denser-mesh value as denominator.</a:t>
            </a:r>
          </a:p>
        </p:txBody>
      </p:sp>
      <p:sp>
        <p:nvSpPr>
          <p:cNvPr id="3" name="">
            <a:extLst xmlns:a="http://schemas.openxmlformats.org/drawingml/2006/main">
              <a:ext uri="{FF2B5EF4-FFF2-40B4-BE49-F238E27FC236}">
                <a16:creationId xmlns:a16="http://schemas.microsoft.com/office/drawing/2014/main" id="{3CDD30BE-0D40-4929-8F2A-D38F5AE0639F}"/>
              </a:ext>
            </a:extLst>
          </p:cNvPr>
          <p:cNvSpPr>
            <a:spLocks xmlns:a="http://schemas.openxmlformats.org/drawingml/2006/main" noGrp="1"/>
          </p:cNvSpPr>
          <p:nvPr/>
        </p:nvSpPr>
        <p:spPr>
          <a:xfrm xmlns:a="http://schemas.openxmlformats.org/drawingml/2006/main">
            <a:off x="1104900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B71"/>
                </a:solidFill>
                <a:latin typeface="Arial"/>
                <a:ea typeface="Arial"/>
                <a:cs typeface="Arial"/>
              </a:defRPr>
            </a:pPr>
            <a:r>
              <a:rPr sz="1275" b="0">
                <a:solidFill>
                  <a:srgbClr val="596B71"/>
                </a:solidFill>
                <a:latin typeface="Arial"/>
                <a:ea typeface="Arial"/>
                <a:cs typeface="Arial"/>
              </a:rPr>
              <a:t>09</a:t>
            </a:r>
          </a:p>
        </p:txBody>
      </p:sp>
      <p:graphicFrame>
        <p:nvGraphicFramePr>
          <p:cNvPr id="11" name="Chart"/>
          <p:cNvGraphicFramePr/>
          <p:nvPr/>
        </p:nvGraphicFramePr>
        <p:xfrm>
          <a:off xmlns:a="http://schemas.openxmlformats.org/drawingml/2006/main" x="666750" y="1952625"/>
          <a:ext xmlns:a="http://schemas.openxmlformats.org/drawingml/2006/main" cx="7620000" cy="3810000"/>
        </p:xfrm>
        <a:graphic xmlns:a="http://schemas.openxmlformats.org/drawingml/2006/main">
          <a:graphicData uri="http://schemas.openxmlformats.org/drawingml/2006/chart">
            <c:chart xmlns:r="http://schemas.openxmlformats.org/officeDocument/2006/relationships" xmlns:c="http://schemas.openxmlformats.org/drawingml/2006/chart" r:id="Rada1019c44d147ec"/>
          </a:graphicData>
        </a:graphic>
      </p:graphicFrame>
      <p:sp>
        <p:nvSpPr>
          <p:cNvPr id="5" name="">
            <a:extLst xmlns:a="http://schemas.openxmlformats.org/drawingml/2006/main">
              <a:ext uri="{FF2B5EF4-FFF2-40B4-BE49-F238E27FC236}">
                <a16:creationId xmlns:a16="http://schemas.microsoft.com/office/drawing/2014/main" id="{CF5980BB-E30F-4103-A8EA-6FA33C207159}"/>
              </a:ext>
            </a:extLst>
          </p:cNvPr>
          <p:cNvSpPr>
            <a:spLocks xmlns:a="http://schemas.openxmlformats.org/drawingml/2006/main" noGrp="1"/>
          </p:cNvSpPr>
          <p:nvPr/>
        </p:nvSpPr>
        <p:spPr>
          <a:xfrm xmlns:a="http://schemas.openxmlformats.org/drawingml/2006/main">
            <a:off x="8753475" y="2219325"/>
            <a:ext cx="2819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33C"/>
                </a:solidFill>
                <a:latin typeface="Arial"/>
                <a:ea typeface="Arial"/>
                <a:cs typeface="Arial"/>
              </a:defRPr>
            </a:pPr>
            <a:r>
              <a:rPr sz="2250" b="1">
                <a:solidFill>
                  <a:srgbClr val="18333C"/>
                </a:solidFill>
                <a:latin typeface="Arial"/>
                <a:ea typeface="Arial"/>
                <a:cs typeface="Arial"/>
              </a:rPr>
              <a:t>Current acceptance rule</a:t>
            </a:r>
          </a:p>
        </p:txBody>
      </p:sp>
      <p:sp>
        <p:nvSpPr>
          <p:cNvPr id="6" name="">
            <a:extLst xmlns:a="http://schemas.openxmlformats.org/drawingml/2006/main">
              <a:ext uri="{FF2B5EF4-FFF2-40B4-BE49-F238E27FC236}">
                <a16:creationId xmlns:a16="http://schemas.microsoft.com/office/drawing/2014/main" id="{8C8BB41D-8E74-4775-9174-08D74B673DC8}"/>
              </a:ext>
            </a:extLst>
          </p:cNvPr>
          <p:cNvSpPr>
            <a:spLocks xmlns:a="http://schemas.openxmlformats.org/drawingml/2006/main" noGrp="1"/>
          </p:cNvSpPr>
          <p:nvPr/>
        </p:nvSpPr>
        <p:spPr>
          <a:xfrm xmlns:a="http://schemas.openxmlformats.org/drawingml/2006/main">
            <a:off x="8772525" y="3257550"/>
            <a:ext cx="2762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8333C"/>
                </a:solidFill>
                <a:latin typeface="Arial"/>
                <a:ea typeface="Arial"/>
                <a:cs typeface="Arial"/>
              </a:defRPr>
            </a:pPr>
            <a:r>
              <a:rPr sz="2025" b="0">
                <a:solidFill>
                  <a:srgbClr val="18333C"/>
                </a:solidFill>
                <a:latin typeface="Arial"/>
                <a:ea typeface="Arial"/>
                <a:cs typeface="Arial"/>
              </a:rPr>
              <a:t>Average &lt; 3%</a:t>
            </a:r>
          </a:p>
          <a:p xmlns:a="http://schemas.openxmlformats.org/drawingml/2006/main">
            <a:pPr>
              <a:defRPr sz="2025" b="0">
                <a:solidFill>
                  <a:srgbClr val="18333C"/>
                </a:solidFill>
                <a:latin typeface="Arial"/>
                <a:ea typeface="Arial"/>
                <a:cs typeface="Arial"/>
              </a:defRPr>
            </a:pPr>
            <a:r>
              <a:rPr sz="2025" b="0">
                <a:solidFill>
                  <a:srgbClr val="18333C"/>
                </a:solidFill>
                <a:latin typeface="Arial"/>
                <a:ea typeface="Arial"/>
                <a:cs typeface="Arial"/>
              </a:rPr>
              <a:t>Each diagonal &lt; 5%</a:t>
            </a:r>
          </a:p>
          <a:p xmlns:a="http://schemas.openxmlformats.org/drawingml/2006/main">
            <a:pPr>
              <a:defRPr sz="2025" b="0">
                <a:solidFill>
                  <a:srgbClr val="18333C"/>
                </a:solidFill>
                <a:latin typeface="Arial"/>
                <a:ea typeface="Arial"/>
                <a:cs typeface="Arial"/>
              </a:defRPr>
            </a:pPr>
            <a:r>
              <a:rPr sz="2025" b="0">
                <a:solidFill>
                  <a:srgbClr val="18333C"/>
                </a:solidFill>
                <a:latin typeface="Arial"/>
                <a:ea typeface="Arial"/>
                <a:cs typeface="Arial"/>
              </a:rPr>
              <a:t>At every temperature</a:t>
            </a:r>
          </a:p>
        </p:txBody>
      </p:sp>
      <p:sp>
        <p:nvSpPr>
          <p:cNvPr id="7" name="">
            <a:extLst xmlns:a="http://schemas.openxmlformats.org/drawingml/2006/main">
              <a:ext uri="{FF2B5EF4-FFF2-40B4-BE49-F238E27FC236}">
                <a16:creationId xmlns:a16="http://schemas.microsoft.com/office/drawing/2014/main" id="{F8F14EB3-11A3-4822-8CBE-0F412950EC54}"/>
              </a:ext>
            </a:extLst>
          </p:cNvPr>
          <p:cNvSpPr>
            <a:spLocks xmlns:a="http://schemas.openxmlformats.org/drawingml/2006/main" noGrp="1"/>
          </p:cNvSpPr>
          <p:nvPr/>
        </p:nvSpPr>
        <p:spPr>
          <a:xfrm xmlns:a="http://schemas.openxmlformats.org/drawingml/2006/main">
            <a:off x="8772525" y="5276850"/>
            <a:ext cx="276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96B71"/>
                </a:solidFill>
                <a:latin typeface="Arial"/>
                <a:ea typeface="Arial"/>
                <a:cs typeface="Arial"/>
              </a:defRPr>
            </a:pPr>
            <a:r>
              <a:rPr sz="1875" b="0">
                <a:solidFill>
                  <a:srgbClr val="596B71"/>
                </a:solidFill>
                <a:latin typeface="Arial"/>
                <a:ea typeface="Arial"/>
                <a:cs typeface="Arial"/>
              </a:rPr>
              <a:t>Two consecutive</a:t>
            </a:r>
          </a:p>
          <a:p xmlns:a="http://schemas.openxmlformats.org/drawingml/2006/main">
            <a:pPr>
              <a:defRPr sz="1875" b="0">
                <a:solidFill>
                  <a:srgbClr val="596B71"/>
                </a:solidFill>
                <a:latin typeface="Arial"/>
                <a:ea typeface="Arial"/>
                <a:cs typeface="Arial"/>
              </a:defRPr>
            </a:pPr>
            <a:r>
              <a:rPr sz="1875" b="0">
                <a:solidFill>
                  <a:srgbClr val="596B71"/>
                </a:solidFill>
                <a:latin typeface="Arial"/>
                <a:ea typeface="Arial"/>
                <a:cs typeface="Arial"/>
              </a:rPr>
              <a:t>passing transitions</a:t>
            </a:r>
          </a:p>
        </p:txBody>
      </p:sp>
    </p:spTree>
    <p:extLst>
      <p:ext uri="{BB962C8B-B14F-4D97-AF65-F5344CB8AC3E}">
        <p14:creationId xmlns:p14="http://schemas.microsoft.com/office/powerpoint/2010/main" val="1868562709"/>
      </p:ext>
    </p:extLst>
  </p:cSld>
</p:sld>
</file>

<file path=ppt/slides/slide10.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22D9047-735E-4EB5-A077-E6012F098414}"/>
              </a:ext>
            </a:extLst>
          </p:cNvPr>
          <p:cNvSpPr>
            <a:spLocks xmlns:a="http://schemas.openxmlformats.org/drawingml/2006/main" noGrp="1"/>
          </p:cNvSpPr>
          <p:nvPr/>
        </p:nvSpPr>
        <p:spPr>
          <a:xfrm xmlns:a="http://schemas.openxmlformats.org/drawingml/2006/main">
            <a:off x="590550" y="400050"/>
            <a:ext cx="11010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33C"/>
                </a:solidFill>
                <a:latin typeface="Arial"/>
                <a:ea typeface="Arial"/>
                <a:cs typeface="Arial"/>
              </a:defRPr>
            </a:pPr>
            <a:r>
              <a:rPr sz="3300" b="1">
                <a:solidFill>
                  <a:srgbClr val="18333C"/>
                </a:solidFill>
                <a:latin typeface="Arial"/>
                <a:ea typeface="Arial"/>
                <a:cs typeface="Arial"/>
              </a:rPr>
              <a:t>Proposed next research choices</a:t>
            </a:r>
          </a:p>
        </p:txBody>
      </p:sp>
      <p:sp>
        <p:nvSpPr>
          <p:cNvPr id="2" name="">
            <a:extLst xmlns:a="http://schemas.openxmlformats.org/drawingml/2006/main">
              <a:ext uri="{FF2B5EF4-FFF2-40B4-BE49-F238E27FC236}">
                <a16:creationId xmlns:a16="http://schemas.microsoft.com/office/drawing/2014/main" id="{598348C2-B8E0-4359-B16D-FC17F8BDF219}"/>
              </a:ext>
            </a:extLst>
          </p:cNvPr>
          <p:cNvSpPr>
            <a:spLocks xmlns:a="http://schemas.openxmlformats.org/drawingml/2006/main" noGrp="1"/>
          </p:cNvSpPr>
          <p:nvPr/>
        </p:nvSpPr>
        <p:spPr>
          <a:xfrm xmlns:a="http://schemas.openxmlformats.org/drawingml/2006/main">
            <a:off x="609600" y="116205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B71"/>
                </a:solidFill>
                <a:latin typeface="Arial"/>
                <a:ea typeface="Arial"/>
                <a:cs typeface="Arial"/>
              </a:defRPr>
            </a:pPr>
            <a:r>
              <a:rPr sz="1725" b="0">
                <a:solidFill>
                  <a:srgbClr val="596B71"/>
                </a:solidFill>
                <a:latin typeface="Arial"/>
                <a:ea typeface="Arial"/>
                <a:cs typeface="Arial"/>
              </a:rPr>
              <a:t>Each route starts with a bounded question and a stopping decision</a:t>
            </a:r>
          </a:p>
        </p:txBody>
      </p:sp>
      <p:sp>
        <p:nvSpPr>
          <p:cNvPr id="3" name="">
            <a:extLst xmlns:a="http://schemas.openxmlformats.org/drawingml/2006/main">
              <a:ext uri="{FF2B5EF4-FFF2-40B4-BE49-F238E27FC236}">
                <a16:creationId xmlns:a16="http://schemas.microsoft.com/office/drawing/2014/main" id="{2FA3F645-3FA7-49FA-A5B6-5630E4CE95F6}"/>
              </a:ext>
            </a:extLst>
          </p:cNvPr>
          <p:cNvSpPr>
            <a:spLocks xmlns:a="http://schemas.openxmlformats.org/drawingml/2006/main" noGrp="1"/>
          </p:cNvSpPr>
          <p:nvPr/>
        </p:nvSpPr>
        <p:spPr>
          <a:xfrm xmlns:a="http://schemas.openxmlformats.org/drawingml/2006/main">
            <a:off x="1104900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B71"/>
                </a:solidFill>
                <a:latin typeface="Arial"/>
                <a:ea typeface="Arial"/>
                <a:cs typeface="Arial"/>
              </a:defRPr>
            </a:pPr>
            <a:r>
              <a:rPr sz="1275" b="0">
                <a:solidFill>
                  <a:srgbClr val="596B71"/>
                </a:solidFill>
                <a:latin typeface="Arial"/>
                <a:ea typeface="Arial"/>
                <a:cs typeface="Arial"/>
              </a:rPr>
              <a:t>10</a:t>
            </a:r>
          </a:p>
        </p:txBody>
      </p:sp>
      <p:graphicFrame>
        <p:nvGraphicFramePr>
          <p:cNvPr id="9" name=""/>
          <p:cNvGraphicFramePr/>
          <p:nvPr/>
        </p:nvGraphicFramePr>
        <p:xfrm>
          <a:off xmlns:a="http://schemas.openxmlformats.org/drawingml/2006/main" x="609600" y="1914525"/>
          <a:ext xmlns:a="http://schemas.openxmlformats.org/drawingml/2006/main" cx="10953750" cy="3390900"/>
        </p:xfrm>
        <a:graphic xmlns:a="http://schemas.openxmlformats.org/drawingml/2006/main">
          <a:graphicData uri="http://schemas.openxmlformats.org/drawingml/2006/table">
            <a:tbl>
              <a:tblPr/>
              <a:tblGrid>
                <a:gridCol w="2286000"/>
                <a:gridCol w="4333875"/>
                <a:gridCol w="4333875"/>
              </a:tblGrid>
              <a:tr h="847725">
                <a:tc>
                  <a:txBody>
                    <a:bodyPr/>
                    <a:lstStyle/>
                    <a:p>
                      <a:r>
                        <a:rPr sz="1875" b="1">
                          <a:solidFill>
                            <a:srgbClr val="FFFFFF"/>
                          </a:solidFill>
                          <a:latin typeface="Arial"/>
                          <a:ea typeface="Arial"/>
                          <a:cs typeface="Arial"/>
                        </a:rPr>
                        <a:t>Material</a:t>
                      </a:r>
                    </a:p>
                  </a:txBody>
                  <a:tcPr marL="91440" marR="91440" marT="45720" marB="45720">
                    <a:solidFill>
                      <a:srgbClr val="18333C"/>
                    </a:solidFill>
                  </a:tcPr>
                </a:tc>
                <a:tc>
                  <a:txBody>
                    <a:bodyPr/>
                    <a:lstStyle/>
                    <a:p>
                      <a:r>
                        <a:rPr sz="1875" b="1">
                          <a:solidFill>
                            <a:srgbClr val="FFFFFF"/>
                          </a:solidFill>
                          <a:latin typeface="Arial"/>
                          <a:ea typeface="Arial"/>
                          <a:cs typeface="Arial"/>
                        </a:rPr>
                        <a:t>Smallest useful next question</a:t>
                      </a:r>
                    </a:p>
                  </a:txBody>
                  <a:tcPr marL="91440" marR="91440" marT="45720" marB="45720">
                    <a:solidFill>
                      <a:srgbClr val="18333C"/>
                    </a:solidFill>
                  </a:tcPr>
                </a:tc>
                <a:tc>
                  <a:txBody>
                    <a:bodyPr/>
                    <a:lstStyle/>
                    <a:p>
                      <a:r>
                        <a:rPr sz="1875" b="1">
                          <a:solidFill>
                            <a:srgbClr val="FFFFFF"/>
                          </a:solidFill>
                          <a:latin typeface="Arial"/>
                          <a:ea typeface="Arial"/>
                          <a:cs typeface="Arial"/>
                        </a:rPr>
                        <a:t>Expansion depends on</a:t>
                      </a:r>
                    </a:p>
                  </a:txBody>
                  <a:tcPr marL="91440" marR="91440" marT="45720" marB="45720">
                    <a:solidFill>
                      <a:srgbClr val="18333C"/>
                    </a:solidFill>
                  </a:tcPr>
                </a:tc>
              </a:tr>
              <a:tr h="847725">
                <a:tc>
                  <a:txBody>
                    <a:bodyPr/>
                    <a:lstStyle/>
                    <a:p>
                      <a:r>
                        <a:rPr sz="1875" b="0">
                          <a:solidFill>
                            <a:srgbClr val="18333C"/>
                          </a:solidFill>
                          <a:latin typeface="Arial"/>
                          <a:ea typeface="Arial"/>
                          <a:cs typeface="Arial"/>
                        </a:rPr>
                        <a:t>SrCu2SnS4</a:t>
                      </a:r>
                    </a:p>
                  </a:txBody>
                  <a:tcPr marL="91440" marR="91440" marT="45720" marB="45720">
                    <a:solidFill>
                      <a:srgbClr val="FFFFFF"/>
                    </a:solidFill>
                  </a:tcPr>
                </a:tc>
                <a:tc>
                  <a:txBody>
                    <a:bodyPr/>
                    <a:lstStyle/>
                    <a:p>
                      <a:r>
                        <a:rPr sz="1875" b="0">
                          <a:solidFill>
                            <a:srgbClr val="18333C"/>
                          </a:solidFill>
                          <a:latin typeface="Arial"/>
                          <a:ea typeface="Arial"/>
                          <a:cs typeface="Arial"/>
                        </a:rPr>
                        <a:t>Can a clean v2 pilot resolve</a:t>
                      </a:r>
                    </a:p>
                    <a:p>
                      <a:r>
                        <a:rPr sz="1875" b="0">
                          <a:solidFill>
                            <a:srgbClr val="18333C"/>
                          </a:solidFill>
                          <a:latin typeface="Arial"/>
                          <a:ea typeface="Arial"/>
                          <a:cs typeface="Arial"/>
                        </a:rPr>
                        <a:t>force signal consistently?</a:t>
                      </a:r>
                    </a:p>
                  </a:txBody>
                  <a:tcPr marL="91440" marR="91440" marT="45720" marB="45720">
                    <a:solidFill>
                      <a:srgbClr val="FFFFFF"/>
                    </a:solidFill>
                  </a:tcPr>
                </a:tc>
                <a:tc>
                  <a:txBody>
                    <a:bodyPr/>
                    <a:lstStyle/>
                    <a:p>
                      <a:r>
                        <a:rPr sz="1875" b="0">
                          <a:solidFill>
                            <a:srgbClr val="18333C"/>
                          </a:solidFill>
                          <a:latin typeface="Arial"/>
                          <a:ea typeface="Arial"/>
                          <a:cs typeface="Arial"/>
                        </a:rPr>
                        <a:t>Healthy pristine, reproducible</a:t>
                      </a:r>
                    </a:p>
                    <a:p>
                      <a:r>
                        <a:rPr sz="1875" b="0">
                          <a:solidFill>
                            <a:srgbClr val="18333C"/>
                          </a:solidFill>
                          <a:latin typeface="Arial"/>
                          <a:ea typeface="Arial"/>
                          <a:cs typeface="Arial"/>
                        </a:rPr>
                        <a:t>forces and uniform settings</a:t>
                      </a:r>
                    </a:p>
                  </a:txBody>
                  <a:tcPr marL="91440" marR="91440" marT="45720" marB="45720">
                    <a:solidFill>
                      <a:srgbClr val="FFFFFF"/>
                    </a:solidFill>
                  </a:tcPr>
                </a:tc>
              </a:tr>
              <a:tr h="847725">
                <a:tc>
                  <a:txBody>
                    <a:bodyPr/>
                    <a:lstStyle/>
                    <a:p>
                      <a:r>
                        <a:rPr sz="1875" b="0">
                          <a:solidFill>
                            <a:srgbClr val="18333C"/>
                          </a:solidFill>
                          <a:latin typeface="Arial"/>
                          <a:ea typeface="Arial"/>
                          <a:cs typeface="Arial"/>
                        </a:rPr>
                        <a:t>SrZrS3</a:t>
                      </a:r>
                    </a:p>
                  </a:txBody>
                  <a:tcPr marL="91440" marR="91440" marT="45720" marB="45720">
                    <a:solidFill>
                      <a:srgbClr val="F7F8F5"/>
                    </a:solidFill>
                  </a:tcPr>
                </a:tc>
                <a:tc>
                  <a:txBody>
                    <a:bodyPr/>
                    <a:lstStyle/>
                    <a:p>
                      <a:r>
                        <a:rPr sz="1875" b="0">
                          <a:solidFill>
                            <a:srgbClr val="18333C"/>
                          </a:solidFill>
                          <a:latin typeface="Arial"/>
                          <a:ea typeface="Arial"/>
                          <a:cs typeface="Arial"/>
                        </a:rPr>
                        <a:t>Does the soft mode persist</a:t>
                      </a:r>
                    </a:p>
                    <a:p>
                      <a:r>
                        <a:rPr sz="1875" b="0">
                          <a:solidFill>
                            <a:srgbClr val="18333C"/>
                          </a:solidFill>
                          <a:latin typeface="Arial"/>
                          <a:ea typeface="Arial"/>
                          <a:cs typeface="Arial"/>
                        </a:rPr>
                        <a:t>under numerical controls?</a:t>
                      </a:r>
                    </a:p>
                  </a:txBody>
                  <a:tcPr marL="91440" marR="91440" marT="45720" marB="45720">
                    <a:solidFill>
                      <a:srgbClr val="F7F8F5"/>
                    </a:solidFill>
                  </a:tcPr>
                </a:tc>
                <a:tc>
                  <a:txBody>
                    <a:bodyPr/>
                    <a:lstStyle/>
                    <a:p>
                      <a:r>
                        <a:rPr sz="1875" b="0">
                          <a:solidFill>
                            <a:srgbClr val="18333C"/>
                          </a:solidFill>
                          <a:latin typeface="Arial"/>
                          <a:ea typeface="Arial"/>
                          <a:cs typeface="Arial"/>
                        </a:rPr>
                        <a:t>Mode diagnosis and</a:t>
                      </a:r>
                    </a:p>
                    <a:p>
                      <a:r>
                        <a:rPr sz="1875" b="0">
                          <a:solidFill>
                            <a:srgbClr val="18333C"/>
                          </a:solidFill>
                          <a:latin typeface="Arial"/>
                          <a:ea typeface="Arial"/>
                          <a:cs typeface="Arial"/>
                        </a:rPr>
                        <a:t>independent harmonic evidence</a:t>
                      </a:r>
                    </a:p>
                  </a:txBody>
                  <a:tcPr marL="91440" marR="91440" marT="45720" marB="45720">
                    <a:solidFill>
                      <a:srgbClr val="F7F8F5"/>
                    </a:solidFill>
                  </a:tcPr>
                </a:tc>
              </a:tr>
              <a:tr h="847725">
                <a:tc>
                  <a:txBody>
                    <a:bodyPr/>
                    <a:lstStyle/>
                    <a:p>
                      <a:r>
                        <a:rPr sz="1875" b="0">
                          <a:solidFill>
                            <a:srgbClr val="18333C"/>
                          </a:solidFill>
                          <a:latin typeface="Arial"/>
                          <a:ea typeface="Arial"/>
                          <a:cs typeface="Arial"/>
                        </a:rPr>
                        <a:t>Rb2Cu2SnS4</a:t>
                      </a:r>
                    </a:p>
                  </a:txBody>
                  <a:tcPr marL="91440" marR="91440" marT="45720" marB="45720">
                    <a:solidFill>
                      <a:srgbClr val="FFFFFF"/>
                    </a:solidFill>
                  </a:tcPr>
                </a:tc>
                <a:tc>
                  <a:txBody>
                    <a:bodyPr/>
                    <a:lstStyle/>
                    <a:p>
                      <a:r>
                        <a:rPr sz="1875" b="0">
                          <a:solidFill>
                            <a:srgbClr val="18333C"/>
                          </a:solidFill>
                          <a:latin typeface="Arial"/>
                          <a:ea typeface="Arial"/>
                          <a:cs typeface="Arial"/>
                        </a:rPr>
                        <a:t>Which force-model uncertainty</a:t>
                      </a:r>
                    </a:p>
                    <a:p>
                      <a:r>
                        <a:rPr sz="1875" b="0">
                          <a:solidFill>
                            <a:srgbClr val="18333C"/>
                          </a:solidFill>
                          <a:latin typeface="Arial"/>
                          <a:ea typeface="Arial"/>
                          <a:cs typeface="Arial"/>
                        </a:rPr>
                        <a:t>should be checked first?</a:t>
                      </a:r>
                    </a:p>
                  </a:txBody>
                  <a:tcPr marL="91440" marR="91440" marT="45720" marB="45720">
                    <a:solidFill>
                      <a:srgbClr val="FFFFFF"/>
                    </a:solidFill>
                  </a:tcPr>
                </a:tc>
                <a:tc>
                  <a:txBody>
                    <a:bodyPr/>
                    <a:lstStyle/>
                    <a:p>
                      <a:r>
                        <a:rPr sz="1875" b="0">
                          <a:solidFill>
                            <a:srgbClr val="18333C"/>
                          </a:solidFill>
                          <a:latin typeface="Arial"/>
                          <a:ea typeface="Arial"/>
                          <a:cs typeface="Arial"/>
                        </a:rPr>
                        <a:t>Reuse audit, focused sensitivity</a:t>
                      </a:r>
                    </a:p>
                    <a:p>
                      <a:r>
                        <a:rPr sz="1875" b="0">
                          <a:solidFill>
                            <a:srgbClr val="18333C"/>
                          </a:solidFill>
                          <a:latin typeface="Arial"/>
                          <a:ea typeface="Arial"/>
                          <a:cs typeface="Arial"/>
                        </a:rPr>
                        <a:t>and measured mesh cost</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DEE2111-5930-41D4-9F75-C9576FB13DAF}"/>
              </a:ext>
            </a:extLst>
          </p:cNvPr>
          <p:cNvSpPr>
            <a:spLocks xmlns:a="http://schemas.openxmlformats.org/drawingml/2006/main" noGrp="1"/>
          </p:cNvSpPr>
          <p:nvPr/>
        </p:nvSpPr>
        <p:spPr>
          <a:xfrm xmlns:a="http://schemas.openxmlformats.org/drawingml/2006/main">
            <a:off x="666750" y="568642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96B71"/>
                </a:solidFill>
                <a:latin typeface="Arial"/>
                <a:ea typeface="Arial"/>
                <a:cs typeface="Arial"/>
              </a:defRPr>
            </a:pPr>
            <a:r>
              <a:rPr sz="2100" b="0">
                <a:solidFill>
                  <a:srgbClr val="596B71"/>
                </a:solidFill>
                <a:latin typeface="Arial"/>
                <a:ea typeface="Arial"/>
                <a:cs typeface="Arial"/>
              </a:rPr>
              <a:t>Cost estimates need measured timings and generated displacement counts.</a:t>
            </a:r>
          </a:p>
        </p:txBody>
      </p:sp>
    </p:spTree>
    <p:extLst>
      <p:ext uri="{BB962C8B-B14F-4D97-AF65-F5344CB8AC3E}">
        <p14:creationId xmlns:p14="http://schemas.microsoft.com/office/powerpoint/2010/main" val="1825813758"/>
      </p:ext>
    </p:extLst>
  </p:cSld>
</p:sld>
</file>

<file path=ppt/slides/slide11.xml><?xml version="1.0" encoding="utf-8"?>
<p:sld xmlns:p="http://schemas.openxmlformats.org/presentationml/2006/main">
  <p:cSld>
    <p:bg>
      <p:bgPr>
        <a:solidFill xmlns:a="http://schemas.openxmlformats.org/drawingml/2006/main">
          <a:srgbClr val="F7F8F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B0A3F8F-C933-4BD3-B3E3-E4269599A0D9}"/>
              </a:ext>
            </a:extLst>
          </p:cNvPr>
          <p:cNvSpPr>
            <a:spLocks xmlns:a="http://schemas.openxmlformats.org/drawingml/2006/main" noGrp="1"/>
          </p:cNvSpPr>
          <p:nvPr/>
        </p:nvSpPr>
        <p:spPr>
          <a:xfrm xmlns:a="http://schemas.openxmlformats.org/drawingml/2006/main">
            <a:off x="590550" y="400050"/>
            <a:ext cx="11010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8333C"/>
                </a:solidFill>
                <a:latin typeface="Arial"/>
                <a:ea typeface="Arial"/>
                <a:cs typeface="Arial"/>
              </a:defRPr>
            </a:pPr>
            <a:r>
              <a:rPr sz="3300" b="1">
                <a:solidFill>
                  <a:srgbClr val="18333C"/>
                </a:solidFill>
                <a:latin typeface="Arial"/>
                <a:ea typeface="Arial"/>
                <a:cs typeface="Arial"/>
              </a:rPr>
              <a:t>Discussion with Roy</a:t>
            </a:r>
          </a:p>
        </p:txBody>
      </p:sp>
      <p:sp>
        <p:nvSpPr>
          <p:cNvPr id="2" name="">
            <a:extLst xmlns:a="http://schemas.openxmlformats.org/drawingml/2006/main">
              <a:ext uri="{FF2B5EF4-FFF2-40B4-BE49-F238E27FC236}">
                <a16:creationId xmlns:a16="http://schemas.microsoft.com/office/drawing/2014/main" id="{C9F55307-9857-4D6D-94E6-E6760031E627}"/>
              </a:ext>
            </a:extLst>
          </p:cNvPr>
          <p:cNvSpPr>
            <a:spLocks xmlns:a="http://schemas.openxmlformats.org/drawingml/2006/main" noGrp="1"/>
          </p:cNvSpPr>
          <p:nvPr/>
        </p:nvSpPr>
        <p:spPr>
          <a:xfrm xmlns:a="http://schemas.openxmlformats.org/drawingml/2006/main">
            <a:off x="609600" y="1162050"/>
            <a:ext cx="10858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96B71"/>
                </a:solidFill>
                <a:latin typeface="Arial"/>
                <a:ea typeface="Arial"/>
                <a:cs typeface="Arial"/>
              </a:defRPr>
            </a:pPr>
            <a:r>
              <a:rPr sz="1725" b="0">
                <a:solidFill>
                  <a:srgbClr val="596B71"/>
                </a:solidFill>
                <a:latin typeface="Arial"/>
                <a:ea typeface="Arial"/>
                <a:cs typeface="Arial"/>
              </a:rPr>
              <a:t>I would appreciate guidance on the next scientific priority.</a:t>
            </a:r>
          </a:p>
        </p:txBody>
      </p:sp>
      <p:sp>
        <p:nvSpPr>
          <p:cNvPr id="3" name="">
            <a:extLst xmlns:a="http://schemas.openxmlformats.org/drawingml/2006/main">
              <a:ext uri="{FF2B5EF4-FFF2-40B4-BE49-F238E27FC236}">
                <a16:creationId xmlns:a16="http://schemas.microsoft.com/office/drawing/2014/main" id="{049966AB-2319-43F9-A485-38DCF820381F}"/>
              </a:ext>
            </a:extLst>
          </p:cNvPr>
          <p:cNvSpPr>
            <a:spLocks xmlns:a="http://schemas.openxmlformats.org/drawingml/2006/main" noGrp="1"/>
          </p:cNvSpPr>
          <p:nvPr/>
        </p:nvSpPr>
        <p:spPr>
          <a:xfrm xmlns:a="http://schemas.openxmlformats.org/drawingml/2006/main">
            <a:off x="11049000" y="6429375"/>
            <a:ext cx="552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96B71"/>
                </a:solidFill>
                <a:latin typeface="Arial"/>
                <a:ea typeface="Arial"/>
                <a:cs typeface="Arial"/>
              </a:defRPr>
            </a:pPr>
            <a:r>
              <a:rPr sz="1275" b="0">
                <a:solidFill>
                  <a:srgbClr val="596B71"/>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AB12AAEE-8FA9-4A6D-9783-99CBC7303ED0}"/>
              </a:ext>
            </a:extLst>
          </p:cNvPr>
          <p:cNvSpPr>
            <a:spLocks xmlns:a="http://schemas.openxmlformats.org/drawingml/2006/main" noGrp="1"/>
          </p:cNvSpPr>
          <p:nvPr/>
        </p:nvSpPr>
        <p:spPr>
          <a:xfrm xmlns:a="http://schemas.openxmlformats.org/drawingml/2006/main">
            <a:off x="657225" y="212407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007F7B"/>
                </a:solidFill>
                <a:latin typeface="Arial"/>
                <a:ea typeface="Arial"/>
                <a:cs typeface="Arial"/>
              </a:defRPr>
            </a:pPr>
            <a:r>
              <a:rPr sz="2775" b="1">
                <a:solidFill>
                  <a:srgbClr val="007F7B"/>
                </a:solidFill>
                <a:latin typeface="Arial"/>
                <a:ea typeface="Arial"/>
                <a:cs typeface="Arial"/>
              </a:rPr>
              <a:t>A corrected baseline</a:t>
            </a:r>
          </a:p>
        </p:txBody>
      </p:sp>
      <p:sp>
        <p:nvSpPr>
          <p:cNvPr id="5" name="">
            <a:extLst xmlns:a="http://schemas.openxmlformats.org/drawingml/2006/main">
              <a:ext uri="{FF2B5EF4-FFF2-40B4-BE49-F238E27FC236}">
                <a16:creationId xmlns:a16="http://schemas.microsoft.com/office/drawing/2014/main" id="{BC671457-B5E0-4286-BE54-F92C9AB1317D}"/>
              </a:ext>
            </a:extLst>
          </p:cNvPr>
          <p:cNvSpPr>
            <a:spLocks xmlns:a="http://schemas.openxmlformats.org/drawingml/2006/main" noGrp="1"/>
          </p:cNvSpPr>
          <p:nvPr/>
        </p:nvSpPr>
        <p:spPr>
          <a:xfrm xmlns:a="http://schemas.openxmlformats.org/drawingml/2006/main">
            <a:off x="676275" y="282892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33C"/>
                </a:solidFill>
                <a:latin typeface="Arial"/>
                <a:ea typeface="Arial"/>
                <a:cs typeface="Arial"/>
              </a:defRPr>
            </a:pPr>
            <a:r>
              <a:rPr sz="2175" b="0">
                <a:solidFill>
                  <a:srgbClr val="18333C"/>
                </a:solidFill>
                <a:latin typeface="Arial"/>
                <a:ea typeface="Arial"/>
                <a:cs typeface="Arial"/>
              </a:rPr>
              <a:t>Prioritize a new SrCu2SnS4 v2 pilot</a:t>
            </a:r>
          </a:p>
        </p:txBody>
      </p:sp>
      <p:sp>
        <p:nvSpPr>
          <p:cNvPr id="6" name="">
            <a:extLst xmlns:a="http://schemas.openxmlformats.org/drawingml/2006/main">
              <a:ext uri="{FF2B5EF4-FFF2-40B4-BE49-F238E27FC236}">
                <a16:creationId xmlns:a16="http://schemas.microsoft.com/office/drawing/2014/main" id="{08F5F6AB-ADBC-4790-9B56-84E3CB3434BF}"/>
              </a:ext>
            </a:extLst>
          </p:cNvPr>
          <p:cNvSpPr>
            <a:spLocks xmlns:a="http://schemas.openxmlformats.org/drawingml/2006/main" noGrp="1"/>
          </p:cNvSpPr>
          <p:nvPr/>
        </p:nvSpPr>
        <p:spPr>
          <a:xfrm xmlns:a="http://schemas.openxmlformats.org/drawingml/2006/main">
            <a:off x="657225" y="3714750"/>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4D6CAF"/>
                </a:solidFill>
                <a:latin typeface="Arial"/>
                <a:ea typeface="Arial"/>
                <a:cs typeface="Arial"/>
              </a:defRPr>
            </a:pPr>
            <a:r>
              <a:rPr sz="2775" b="1">
                <a:solidFill>
                  <a:srgbClr val="4D6CAF"/>
                </a:solidFill>
                <a:latin typeface="Arial"/>
                <a:ea typeface="Arial"/>
                <a:cs typeface="Arial"/>
              </a:rPr>
              <a:t>An instability diagnosis</a:t>
            </a:r>
          </a:p>
        </p:txBody>
      </p:sp>
      <p:sp>
        <p:nvSpPr>
          <p:cNvPr id="7" name="">
            <a:extLst xmlns:a="http://schemas.openxmlformats.org/drawingml/2006/main">
              <a:ext uri="{FF2B5EF4-FFF2-40B4-BE49-F238E27FC236}">
                <a16:creationId xmlns:a16="http://schemas.microsoft.com/office/drawing/2014/main" id="{F5DA0748-D46F-42D2-9A1D-B6543BF17229}"/>
              </a:ext>
            </a:extLst>
          </p:cNvPr>
          <p:cNvSpPr>
            <a:spLocks xmlns:a="http://schemas.openxmlformats.org/drawingml/2006/main" noGrp="1"/>
          </p:cNvSpPr>
          <p:nvPr/>
        </p:nvSpPr>
        <p:spPr>
          <a:xfrm xmlns:a="http://schemas.openxmlformats.org/drawingml/2006/main">
            <a:off x="676275" y="441960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33C"/>
                </a:solidFill>
                <a:latin typeface="Arial"/>
                <a:ea typeface="Arial"/>
                <a:cs typeface="Arial"/>
              </a:defRPr>
            </a:pPr>
            <a:r>
              <a:rPr sz="2175" b="0">
                <a:solidFill>
                  <a:srgbClr val="18333C"/>
                </a:solidFill>
                <a:latin typeface="Arial"/>
                <a:ea typeface="Arial"/>
                <a:cs typeface="Arial"/>
              </a:rPr>
              <a:t>Investigate SrZrS3 before further thermal transport</a:t>
            </a:r>
          </a:p>
        </p:txBody>
      </p:sp>
      <p:sp>
        <p:nvSpPr>
          <p:cNvPr id="8" name="">
            <a:extLst xmlns:a="http://schemas.openxmlformats.org/drawingml/2006/main">
              <a:ext uri="{FF2B5EF4-FFF2-40B4-BE49-F238E27FC236}">
                <a16:creationId xmlns:a16="http://schemas.microsoft.com/office/drawing/2014/main" id="{ED58C8CE-D54F-4896-9D71-A98C5F66E985}"/>
              </a:ext>
            </a:extLst>
          </p:cNvPr>
          <p:cNvSpPr>
            <a:spLocks xmlns:a="http://schemas.openxmlformats.org/drawingml/2006/main" noGrp="1"/>
          </p:cNvSpPr>
          <p:nvPr/>
        </p:nvSpPr>
        <p:spPr>
          <a:xfrm xmlns:a="http://schemas.openxmlformats.org/drawingml/2006/main">
            <a:off x="657225" y="5305425"/>
            <a:ext cx="1057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B46936"/>
                </a:solidFill>
                <a:latin typeface="Arial"/>
                <a:ea typeface="Arial"/>
                <a:cs typeface="Arial"/>
              </a:defRPr>
            </a:pPr>
            <a:r>
              <a:rPr sz="2775" b="1">
                <a:solidFill>
                  <a:srgbClr val="B46936"/>
                </a:solidFill>
                <a:latin typeface="Arial"/>
                <a:ea typeface="Arial"/>
                <a:cs typeface="Arial"/>
              </a:rPr>
              <a:t>A convergence study</a:t>
            </a:r>
          </a:p>
        </p:txBody>
      </p:sp>
      <p:sp>
        <p:nvSpPr>
          <p:cNvPr id="9" name="">
            <a:extLst xmlns:a="http://schemas.openxmlformats.org/drawingml/2006/main">
              <a:ext uri="{FF2B5EF4-FFF2-40B4-BE49-F238E27FC236}">
                <a16:creationId xmlns:a16="http://schemas.microsoft.com/office/drawing/2014/main" id="{F506219C-DDCA-4670-B295-84FF2118B9E1}"/>
              </a:ext>
            </a:extLst>
          </p:cNvPr>
          <p:cNvSpPr>
            <a:spLocks xmlns:a="http://schemas.openxmlformats.org/drawingml/2006/main" noGrp="1"/>
          </p:cNvSpPr>
          <p:nvPr/>
        </p:nvSpPr>
        <p:spPr>
          <a:xfrm xmlns:a="http://schemas.openxmlformats.org/drawingml/2006/main">
            <a:off x="676275" y="5953125"/>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33C"/>
                </a:solidFill>
                <a:latin typeface="Arial"/>
                <a:ea typeface="Arial"/>
                <a:cs typeface="Arial"/>
              </a:defRPr>
            </a:pPr>
            <a:r>
              <a:rPr sz="2100" b="0">
                <a:solidFill>
                  <a:srgbClr val="18333C"/>
                </a:solidFill>
                <a:latin typeface="Arial"/>
                <a:ea typeface="Arial"/>
                <a:cs typeface="Arial"/>
              </a:rPr>
              <a:t>Continue Rb2Cu2SnS4 with a bounded, evidence-based scope</a:t>
            </a:r>
          </a:p>
        </p:txBody>
      </p:sp>
    </p:spTree>
    <p:extLst>
      <p:ext uri="{BB962C8B-B14F-4D97-AF65-F5344CB8AC3E}">
        <p14:creationId xmlns:p14="http://schemas.microsoft.com/office/powerpoint/2010/main" val="13201990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2026-09-21T15:37:50.3740000Z</dcterms:created>
  <dcterms:modified xsi:type="dcterms:W3CDTF">2026-09-21T15:37:50.3740000Z</dcterms:modified>
</coreProperties>
</file>